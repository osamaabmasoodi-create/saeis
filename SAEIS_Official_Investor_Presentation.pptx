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EIS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90" y="731520"/>
            <a:ext cx="2743200" cy="27260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749039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FFFFFF"/>
                </a:solidFill>
              </a:defRPr>
            </a:pPr>
            <a:r>
              <a:t>SAEIS: نظام التدقيق الذكي والربط المحاسبي</a:t>
            </a:r>
          </a:p>
          <a:p>
            <a:pPr algn="ctr">
              <a:defRPr sz="1800">
                <a:solidFill>
                  <a:srgbClr val="7F8C8D"/>
                </a:solidFill>
              </a:defRPr>
            </a:pPr>
            <a:r>
              <a:t>Smart Audit &amp; ERP Integration System — العرض الاستثماري الرسمي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إعداد المؤسس والمدير المالي: أسامة الصبري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600">
                <a:solidFill>
                  <a:srgbClr val="FFFFFF"/>
                </a:solidFill>
              </a:defRPr>
            </a:pPr>
            <a:r>
              <a:t>المشكلة والحل الاستراتيجي (SAEIS)</a:t>
            </a:r>
          </a:p>
        </p:txBody>
      </p:sp>
      <p:pic>
        <p:nvPicPr>
          <p:cNvPr id="4" name="Picture 3" descr="SAEIS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91440"/>
            <a:ext cx="822960" cy="8178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1F497D"/>
                </a:solidFill>
              </a:defRPr>
            </a:pPr>
            <a:r>
              <a:t>❌ المشكلة الماليّة والتشغيلية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تخسر الشركات 10% إلى 15% من صافي أرباحها بسبب هدر وقت العمل.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استخدام الهواتف والغياب أثناء الدوام بدون رقابة دقيقة.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غياب أدوات أتمتة الخصومات وتحويل الاستقطاعات إلى الـ ERP مباشرة.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تضخيم تكاليف الإنتاج بأوقات عاطلة غير حقيقية.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27AE60"/>
                </a:solidFill>
              </a:defRPr>
            </a:pPr>
            <a:r>
              <a:t>✅ الحل المحاسبي والذكاء الاصطناعي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دمج خوارزميات الكاميرات (AI Vision) مع الأنظمة المحاسبية (ERP).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رصد مؤتمت لاستخدام الهاتف والتقصير بدون انحياز بشري.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احتساب الخصومات وتحويلها فوراً لجدول الرواتب والقيود.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توفير سجل تدقيق (Audit Log) متوافق مع معيار IAS 19 و COSO.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600">
                <a:solidFill>
                  <a:srgbClr val="FFFFFF"/>
                </a:solidFill>
              </a:defRPr>
            </a:pPr>
            <a:r>
              <a:t>مؤشرات الجدوى والهيكل الاستثماري ($26,500)</a:t>
            </a:r>
          </a:p>
        </p:txBody>
      </p:sp>
      <p:pic>
        <p:nvPicPr>
          <p:cNvPr id="4" name="Picture 3" descr="SAEIS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91440"/>
            <a:ext cx="822960" cy="8178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3291840" cy="2011680"/>
          </a:xfrm>
          <a:prstGeom prst="roundRect">
            <a:avLst/>
          </a:prstGeom>
          <a:solidFill>
            <a:srgbClr val="1F49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التمويل المطلوب (CapEx)</a:t>
            </a:r>
          </a:p>
          <a:p>
            <a:pPr algn="ctr">
              <a:defRPr sz="3200" b="1">
                <a:solidFill>
                  <a:srgbClr val="27AE60"/>
                </a:solidFill>
              </a:defRPr>
            </a:pPr>
            <a:r>
              <a:t>$26,500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2011680"/>
          </a:xfrm>
          <a:prstGeom prst="roundRect">
            <a:avLst/>
          </a:prstGeom>
          <a:solidFill>
            <a:srgbClr val="1F49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فترة استرداد رأس المال</a:t>
            </a:r>
          </a:p>
          <a:p>
            <a:pPr algn="ctr">
              <a:defRPr sz="2800" b="1">
                <a:solidFill>
                  <a:srgbClr val="27AE60"/>
                </a:solidFill>
              </a:defRPr>
            </a:pPr>
            <a:r>
              <a:t>10 - 12 شهراً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2011680"/>
          </a:xfrm>
          <a:prstGeom prst="roundRect">
            <a:avLst/>
          </a:prstGeom>
          <a:solidFill>
            <a:srgbClr val="1F49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معدل العائد الداخلي (IRR)</a:t>
            </a:r>
          </a:p>
          <a:p>
            <a:pPr algn="ctr">
              <a:defRPr sz="2800" b="1">
                <a:solidFill>
                  <a:srgbClr val="27AE60"/>
                </a:solidFill>
              </a:defRPr>
            </a:pPr>
            <a:r>
              <a:t>145% سنوياً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07040" cy="23774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F497D"/>
                </a:solidFill>
              </a:defRPr>
            </a:pPr>
            <a:r>
              <a:t>🤝 هيكل توزيع الأسهم والمسؤوليات</a:t>
            </a:r>
          </a:p>
          <a:p>
            <a:pPr>
              <a:defRPr sz="1500"/>
            </a:pPr>
            <a:r>
              <a:t>• حصة المستثمر المالي (30% - 35%): مقابل تمويل مرحلة التأسيس والتطوير بالكامل ($26,500).</a:t>
            </a:r>
          </a:p>
          <a:p>
            <a:pPr>
              <a:defRPr sz="1500"/>
            </a:pPr>
            <a:r>
              <a:t>• حصة المؤسس والمدير المالي أسامة الصبري (65% - 70%): مقابل الفكرة، الإدارة المالية والربط المحاسبي، إدارة التطوير والتسويق.</a:t>
            </a:r>
          </a:p>
          <a:p>
            <a:pPr>
              <a:defRPr sz="1500"/>
            </a:pPr>
            <a:r>
              <a:t>• حماية الاستثمار: تعهد رسمي بدقة %90+، واستضافة مجانية لسنة تقضي على المصاريف التشغيلية (OpEx).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600">
                <a:solidFill>
                  <a:srgbClr val="FFFFFF"/>
                </a:solidFill>
              </a:defRPr>
            </a:pPr>
            <a:r>
              <a:t>جدول التدفقات النقدية والمخرجات (Milestone Payments)</a:t>
            </a:r>
          </a:p>
        </p:txBody>
      </p:sp>
      <p:pic>
        <p:nvPicPr>
          <p:cNvPr id="4" name="Picture 3" descr="SAEIS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91440"/>
            <a:ext cx="822960" cy="81781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371600"/>
                <a:gridCol w="1371600"/>
                <a:gridCol w="5486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الدفعة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النسبة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المبلغ ($)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الأشهر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الاشتراطات والمخرجات الفنية للصرف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الدفعة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$7,950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الشهر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توقيع العقد، تحليل النظام، تصميم قاعدة البيانات، وتهيئة بيئة السحاب.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الدفعة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$5,300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الشهر 2 - 3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تطوير لوحة التحكم (Dashboard)، إدارة الكاميرات، واكتمال Face Recognition.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الدفعة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$6,625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الشهر 4 - 5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جاهزية Phone Detection، حساب التقصير، واكتمال ربط الـ ERP والـ APIs.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الدفعة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$6,625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</a:defRPr>
                      </a:pPr>
                      <a:r>
                        <a:t>الشهر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الاختبارات الشاملة، التدريب، تأكيد الدقة (90%+) والإطلاق المباشر (Go-Live).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