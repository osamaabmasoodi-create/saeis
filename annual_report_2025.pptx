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1B2B5E"/>
                </a:solidFill>
                <a:latin typeface="Arial"/>
              </a:defRPr>
            </a:pPr>
            <a:r>
              <a:rPr sz="1200" b="1" i="0" u="none" strike="noStrike">
                <a:solidFill>
                  <a:srgbClr val="1B2B5E"/>
                </a:solidFill>
                <a:latin typeface="Arial"/>
              </a:rPr>
              <a:t>مقارنة 2024 مقابل 2025  (مليون ريال)</a:t>
            </a:r>
          </a:p>
        </c:rich>
      </c:tx>
      <c:layout/>
      <c:overlay val="0"/>
    </c:title>
    <c:autoTitleDeleted val="0"/>
    <c:plotArea>
      <c:layout/>
      <c:barChart>
        <c:barDir val="col"/>
        <c:grouping val="clustered"/>
        <c:varyColors val="0"/>
        <c:ser>
          <c:idx val="0"/>
          <c:order val="0"/>
          <c:tx>
            <c:strRef>
              <c:f>Sheet1!$B$1</c:f>
              <c:strCache>
                <c:ptCount val="1"/>
                <c:pt idx="0">
                  <c:v>2024</c:v>
                </c:pt>
              </c:strCache>
            </c:strRef>
          </c:tx>
          <c:spPr>
            <a:solidFill>
              <a:srgbClr val="A0B4D4"/>
            </a:solidFill>
            <a:effectLst/>
          </c:spPr>
          <c:invertIfNegative val="0"/>
          <c:dLbls>
            <c:numFmt formatCode="#,##0" sourceLinked="0"/>
            <c:txPr>
              <a:bodyPr/>
              <a:lstStyle/>
              <a:p>
                <a:pPr>
                  <a:defRPr b="0" i="0" strike="noStrike" sz="1000" u="none">
                    <a:solidFill>
                      <a:srgbClr val="1B2B5E"/>
                    </a:solidFill>
                    <a:latin typeface="Arial"/>
                  </a:defRPr>
                </a:pPr>
              </a:p>
            </c:txPr>
            <c:showLegendKey val="0"/>
            <c:showVal val="1"/>
            <c:showCatName val="0"/>
            <c:showSerName val="0"/>
            <c:showPercent val="0"/>
            <c:showBubbleSize val="0"/>
            <c:showLeaderLines val="0"/>
          </c:dLbls>
          <c:cat>
            <c:multiLvlStrRef>
              <c:f>Sheet1!$A$2:$A$4</c:f>
              <c:multiLvlStrCache>
                <c:ptCount val="3"/>
                <c:lvl>
                  <c:pt idx="0">
                    <c:v>الإيرادات</c:v>
                  </c:pt>
                  <c:pt idx="1">
                    <c:v>الأرباح</c:v>
                  </c:pt>
                  <c:pt idx="2">
                    <c:v>المصروفات</c:v>
                  </c:pt>
                </c:lvl>
              </c:multiLvlStrCache>
            </c:multiLvlStrRef>
          </c:cat>
          <c:val>
            <c:numRef>
              <c:f>Sheet1!$B$2:$B$4</c:f>
              <c:numCache>
                <c:formatCode>General</c:formatCode>
                <c:ptCount val="3"/>
                <c:pt idx="0">
                  <c:v>10.6</c:v>
                </c:pt>
                <c:pt idx="1">
                  <c:v>2.8</c:v>
                </c:pt>
                <c:pt idx="2">
                  <c:v>7.8</c:v>
                </c:pt>
              </c:numCache>
            </c:numRef>
          </c:val>
        </c:ser>
        <c:ser>
          <c:idx val="1"/>
          <c:order val="1"/>
          <c:tx>
            <c:strRef>
              <c:f>Sheet1!$C$1</c:f>
              <c:strCache>
                <c:ptCount val="1"/>
                <c:pt idx="0">
                  <c:v>2025</c:v>
                </c:pt>
              </c:strCache>
            </c:strRef>
          </c:tx>
          <c:spPr>
            <a:solidFill>
              <a:srgbClr val="D4A843"/>
            </a:solidFill>
            <a:effectLst/>
          </c:spPr>
          <c:invertIfNegative val="0"/>
          <c:dLbls>
            <c:numFmt formatCode="#,##0" sourceLinked="0"/>
            <c:txPr>
              <a:bodyPr/>
              <a:lstStyle/>
              <a:p>
                <a:pPr>
                  <a:defRPr b="0" i="0" strike="noStrike" sz="1000" u="none">
                    <a:solidFill>
                      <a:srgbClr val="1B2B5E"/>
                    </a:solidFill>
                    <a:latin typeface="Arial"/>
                  </a:defRPr>
                </a:pPr>
              </a:p>
            </c:txPr>
            <c:showLegendKey val="0"/>
            <c:showVal val="1"/>
            <c:showCatName val="0"/>
            <c:showSerName val="0"/>
            <c:showPercent val="0"/>
            <c:showBubbleSize val="0"/>
            <c:showLeaderLines val="0"/>
          </c:dLbls>
          <c:cat>
            <c:multiLvlStrRef>
              <c:f>Sheet1!$A$2:$A$4</c:f>
              <c:multiLvlStrCache>
                <c:ptCount val="3"/>
                <c:lvl>
                  <c:pt idx="0">
                    <c:v>الإيرادات</c:v>
                  </c:pt>
                  <c:pt idx="1">
                    <c:v>الأرباح</c:v>
                  </c:pt>
                  <c:pt idx="2">
                    <c:v>المصروفات</c:v>
                  </c:pt>
                </c:lvl>
              </c:multiLvlStrCache>
            </c:multiLvlStrRef>
          </c:cat>
          <c:val>
            <c:numRef>
              <c:f>Sheet1!$C$2:$C$4</c:f>
              <c:numCache>
                <c:formatCode>General</c:formatCode>
                <c:ptCount val="3"/>
                <c:pt idx="0">
                  <c:v>12.5</c:v>
                </c:pt>
                <c:pt idx="1">
                  <c:v>3.7</c:v>
                </c:pt>
                <c:pt idx="2">
                  <c:v>8.8</c:v>
                </c:pt>
              </c:numCache>
            </c:numRef>
          </c:val>
        </c:ser>
        <c:dLbls>
          <c:numFmt formatCode="#,##0" sourceLinked="0"/>
          <c:txPr>
            <a:bodyPr/>
            <a:lstStyle/>
            <a:p>
              <a:pPr>
                <a:defRPr b="0" i="0" strike="noStrike" sz="1000" u="none">
                  <a:solidFill>
                    <a:srgbClr val="1B2B5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5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100">
              <a:solidFill>
                <a:srgbClr val="1B2B5E"/>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1" i="0" u="none" strike="noStrike">
                <a:solidFill>
                  <a:srgbClr val="1B2B5E"/>
                </a:solidFill>
                <a:latin typeface="Arial"/>
              </a:defRPr>
            </a:pPr>
            <a:r>
              <a:rPr sz="1100" b="1" i="0" u="none" strike="noStrike">
                <a:solidFill>
                  <a:srgbClr val="1B2B5E"/>
                </a:solidFill>
                <a:latin typeface="Arial"/>
              </a:rPr>
              <a:t>منحنى الإيرادات الفصلية (مليون ريال)</a:t>
            </a:r>
          </a:p>
        </c:rich>
      </c:tx>
      <c:layout/>
      <c:overlay val="0"/>
    </c:title>
    <c:autoTitleDeleted val="0"/>
    <c:plotArea>
      <c:layout/>
      <c:lineChart>
        <c:varyColors val="0"/>
        <c:ser>
          <c:idx val="0"/>
          <c:order val="0"/>
          <c:tx>
            <c:strRef>
              <c:f>Sheet1!$B$1</c:f>
              <c:strCache>
                <c:ptCount val="1"/>
                <c:pt idx="0">
                  <c:v>الإيرادات</c:v>
                </c:pt>
              </c:strCache>
            </c:strRef>
          </c:tx>
          <c:spPr>
            <a:solidFill>
              <a:srgbClr val="D4A843"/>
            </a:solidFill>
            <a:ln w="38100" cap="flat">
              <a:solidFill>
                <a:srgbClr val="D4A843"/>
              </a:solidFill>
              <a:prstDash val="solid"/>
              <a:round/>
            </a:ln>
            <a:effectLst/>
          </c:spPr>
          <c:invertIfNegative val="0"/>
          <c:dLbls>
            <c:numFmt formatCode="0.0" sourceLinked="0"/>
            <c:txPr>
              <a:bodyPr/>
              <a:lstStyle/>
              <a:p>
                <a:pPr>
                  <a:defRPr b="0" i="0" strike="noStrike" sz="1100" u="none">
                    <a:solidFill>
                      <a:srgbClr val="1B2B5E"/>
                    </a:solidFill>
                    <a:latin typeface="Arial"/>
                  </a:defRPr>
                </a:pPr>
              </a:p>
            </c:txPr>
            <c:showLegendKey val="0"/>
            <c:showVal val="1"/>
            <c:showCatName val="0"/>
            <c:showSerName val="0"/>
            <c:showPercent val="0"/>
            <c:showBubbleSize val="0"/>
            <c:showLeaderLines val="0"/>
          </c:dLbls>
          <c:marker>
            <c:symbol val="circle"/>
            <c:size val="6"/>
            <c:spPr>
              <a:solidFill>
                <a:srgbClr val="D4A843"/>
              </a:solidFill>
              <a:ln w="9525" cap="flat">
                <a:solidFill>
                  <a:srgbClr val="D4A843"/>
                </a:solidFill>
                <a:prstDash val="solid"/>
                <a:round/>
              </a:ln>
              <a:effectLst/>
            </c:spPr>
          </c:marker>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2.8</c:v>
                </c:pt>
                <c:pt idx="1">
                  <c:v>3.1</c:v>
                </c:pt>
                <c:pt idx="2">
                  <c:v>3.2</c:v>
                </c:pt>
                <c:pt idx="3">
                  <c:v>3.4</c:v>
                </c:pt>
              </c:numCache>
            </c:numRef>
          </c:val>
          <c:smooth val="1"/>
        </c:ser>
        <c:dLbls>
          <c:numFmt formatCode="0.0" sourceLinked="0"/>
          <c:txPr>
            <a:bodyPr/>
            <a:lstStyle/>
            <a:p>
              <a:pPr>
                <a:defRPr b="0" i="0" strike="noStrike" sz="1100" u="none">
                  <a:solidFill>
                    <a:srgbClr val="1B2B5E"/>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5E"/>
                </a:solidFill>
                <a:latin typeface="Arial"/>
              </a:defRPr>
            </a:pPr>
            <a:endParaRPr lang="en-US"/>
          </a:p>
        </c:txPr>
        <c:crossAx val="2094734552"/>
        <c:crosses val="autoZero"/>
        <c:auto val="1"/>
        <c:lblAlgn val="ctr"/>
        <c:noMultiLvlLbl val="1"/>
      </c:catAx>
      <c:valAx>
        <c:axId val="2094734552"/>
        <c:scaling>
          <c:orientation val="minMax"/>
          <c:max val="4"/>
          <c:min val="2"/>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solidFill>
          <a:srgbClr val="F5F7FC"/>
        </a:solidFill>
        <a:ln>
          <a:noFill/>
        </a:ln>
        <a:effectLst/>
      </c:spPr>
    </c:plotArea>
    <c:plotVisOnly val="1"/>
    <c:dispBlanksAs val="span"/>
  </c:chart>
  <c:spPr>
    <a:solidFill>
      <a:srgbClr val="F5F7FC"/>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B5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D4A843"/>
          </a:solidFill>
          <a:ln w="12700">
            <a:solidFill>
              <a:srgbClr val="D4A843"/>
            </a:solidFill>
            <a:prstDash val="solid"/>
          </a:ln>
        </p:spPr>
      </p:sp>
      <p:sp>
        <p:nvSpPr>
          <p:cNvPr id="3" name="Shape 1"/>
          <p:cNvSpPr/>
          <p:nvPr/>
        </p:nvSpPr>
        <p:spPr>
          <a:xfrm>
            <a:off x="0" y="4389120"/>
            <a:ext cx="9144000" cy="754380"/>
          </a:xfrm>
          <a:prstGeom prst="rect">
            <a:avLst/>
          </a:prstGeom>
          <a:solidFill>
            <a:srgbClr val="0F1A3A"/>
          </a:solidFill>
          <a:ln w="12700">
            <a:solidFill>
              <a:srgbClr val="0F1A3A"/>
            </a:solidFill>
            <a:prstDash val="solid"/>
          </a:ln>
        </p:spPr>
      </p:sp>
      <p:sp>
        <p:nvSpPr>
          <p:cNvPr id="4" name="Shape 2"/>
          <p:cNvSpPr/>
          <p:nvPr/>
        </p:nvSpPr>
        <p:spPr>
          <a:xfrm>
            <a:off x="914400" y="3017520"/>
            <a:ext cx="7315200" cy="0"/>
          </a:xfrm>
          <a:prstGeom prst="line">
            <a:avLst/>
          </a:prstGeom>
          <a:noFill/>
          <a:ln w="19050">
            <a:solidFill>
              <a:srgbClr val="D4A843"/>
            </a:solidFill>
            <a:prstDash val="solid"/>
          </a:ln>
        </p:spPr>
      </p:sp>
      <p:sp>
        <p:nvSpPr>
          <p:cNvPr id="5" name="Text 3"/>
          <p:cNvSpPr/>
          <p:nvPr/>
        </p:nvSpPr>
        <p:spPr>
          <a:xfrm>
            <a:off x="457200" y="868680"/>
            <a:ext cx="8229600" cy="320040"/>
          </a:xfrm>
          <a:prstGeom prst="rect">
            <a:avLst/>
          </a:prstGeom>
          <a:noFill/>
          <a:ln/>
        </p:spPr>
        <p:txBody>
          <a:bodyPr wrap="square" rtlCol="0" anchor="ctr"/>
          <a:lstStyle/>
          <a:p>
            <a:pPr algn="ctr" indent="0" marL="0">
              <a:buNone/>
            </a:pPr>
            <a:r>
              <a:rPr lang="en-US" sz="1000" b="1" spc="600" kern="0" dirty="0">
                <a:solidFill>
                  <a:srgbClr val="D4A843"/>
                </a:solidFill>
                <a:latin typeface="Calibri" pitchFamily="34" charset="0"/>
                <a:ea typeface="Calibri" pitchFamily="34" charset="-122"/>
                <a:cs typeface="Calibri" pitchFamily="34" charset="-120"/>
              </a:rPr>
              <a:t>ANNUAL REPORT</a:t>
            </a:r>
            <a:endParaRPr lang="en-US" sz="1000" dirty="0"/>
          </a:p>
        </p:txBody>
      </p:sp>
      <p:sp>
        <p:nvSpPr>
          <p:cNvPr id="6" name="Text 4"/>
          <p:cNvSpPr/>
          <p:nvPr/>
        </p:nvSpPr>
        <p:spPr>
          <a:xfrm>
            <a:off x="457200" y="1188720"/>
            <a:ext cx="8229600" cy="1005840"/>
          </a:xfrm>
          <a:prstGeom prst="rect">
            <a:avLst/>
          </a:prstGeom>
          <a:noFill/>
          <a:ln/>
        </p:spPr>
        <p:txBody>
          <a:bodyPr wrap="square" rtlCol="0" anchor="ctr"/>
          <a:lstStyle/>
          <a:p>
            <a:pPr algn="ctr" indent="0" marL="0">
              <a:buNone/>
            </a:pPr>
            <a:r>
              <a:rPr lang="en-US" sz="5200" b="1" dirty="0">
                <a:solidFill>
                  <a:srgbClr val="FFFFFF"/>
                </a:solidFill>
                <a:latin typeface="Arial" pitchFamily="34" charset="0"/>
                <a:ea typeface="Arial" pitchFamily="34" charset="-122"/>
                <a:cs typeface="Arial" pitchFamily="34" charset="-120"/>
              </a:rPr>
              <a:t>التقرير السنوي</a:t>
            </a:r>
            <a:endParaRPr lang="en-US" sz="5200" dirty="0"/>
          </a:p>
        </p:txBody>
      </p:sp>
      <p:sp>
        <p:nvSpPr>
          <p:cNvPr id="7" name="Shape 5"/>
          <p:cNvSpPr/>
          <p:nvPr/>
        </p:nvSpPr>
        <p:spPr>
          <a:xfrm>
            <a:off x="3474720" y="2286000"/>
            <a:ext cx="2194560" cy="548640"/>
          </a:xfrm>
          <a:prstGeom prst="rect">
            <a:avLst/>
          </a:prstGeom>
          <a:solidFill>
            <a:srgbClr val="D4A843"/>
          </a:solidFill>
          <a:ln w="12700">
            <a:solidFill>
              <a:srgbClr val="D4A843"/>
            </a:solidFill>
            <a:prstDash val="solid"/>
          </a:ln>
        </p:spPr>
      </p:sp>
      <p:sp>
        <p:nvSpPr>
          <p:cNvPr id="8" name="Text 6"/>
          <p:cNvSpPr/>
          <p:nvPr/>
        </p:nvSpPr>
        <p:spPr>
          <a:xfrm>
            <a:off x="3474720" y="2286000"/>
            <a:ext cx="2194560" cy="548640"/>
          </a:xfrm>
          <a:prstGeom prst="rect">
            <a:avLst/>
          </a:prstGeom>
          <a:noFill/>
          <a:ln/>
        </p:spPr>
        <p:txBody>
          <a:bodyPr wrap="square" rtlCol="0" anchor="ctr"/>
          <a:lstStyle/>
          <a:p>
            <a:pPr algn="ctr" indent="0" marL="0">
              <a:buNone/>
            </a:pPr>
            <a:r>
              <a:rPr lang="en-US" sz="2200" b="1" dirty="0">
                <a:solidFill>
                  <a:srgbClr val="1B2B5E"/>
                </a:solidFill>
                <a:latin typeface="Arial" pitchFamily="34" charset="0"/>
                <a:ea typeface="Arial" pitchFamily="34" charset="-122"/>
                <a:cs typeface="Arial" pitchFamily="34" charset="-120"/>
              </a:rPr>
              <a:t>2025</a:t>
            </a:r>
            <a:endParaRPr lang="en-US" sz="2200" dirty="0"/>
          </a:p>
        </p:txBody>
      </p:sp>
      <p:sp>
        <p:nvSpPr>
          <p:cNvPr id="9" name="Text 7"/>
          <p:cNvSpPr/>
          <p:nvPr/>
        </p:nvSpPr>
        <p:spPr>
          <a:xfrm>
            <a:off x="457200" y="3108960"/>
            <a:ext cx="8229600" cy="502920"/>
          </a:xfrm>
          <a:prstGeom prst="rect">
            <a:avLst/>
          </a:prstGeom>
          <a:noFill/>
          <a:ln/>
        </p:spPr>
        <p:txBody>
          <a:bodyPr wrap="square" rtlCol="0" anchor="ctr"/>
          <a:lstStyle/>
          <a:p>
            <a:pPr algn="ctr" indent="0" marL="0">
              <a:buNone/>
            </a:pPr>
            <a:r>
              <a:rPr lang="en-US" sz="1600" dirty="0">
                <a:solidFill>
                  <a:srgbClr val="B0BFDF"/>
                </a:solidFill>
                <a:latin typeface="Arial" pitchFamily="34" charset="0"/>
                <a:ea typeface="Arial" pitchFamily="34" charset="-122"/>
                <a:cs typeface="Arial" pitchFamily="34" charset="-120"/>
              </a:rPr>
              <a:t>ملخص الأداء والإنجازات الاستراتيجية</a:t>
            </a:r>
            <a:endParaRPr lang="en-US" sz="1600" dirty="0"/>
          </a:p>
        </p:txBody>
      </p:sp>
      <p:sp>
        <p:nvSpPr>
          <p:cNvPr id="10" name="Text 8"/>
          <p:cNvSpPr/>
          <p:nvPr/>
        </p:nvSpPr>
        <p:spPr>
          <a:xfrm>
            <a:off x="457200" y="4407408"/>
            <a:ext cx="8229600" cy="475488"/>
          </a:xfrm>
          <a:prstGeom prst="rect">
            <a:avLst/>
          </a:prstGeom>
          <a:noFill/>
          <a:ln/>
        </p:spPr>
        <p:txBody>
          <a:bodyPr wrap="square" rtlCol="0" anchor="ctr"/>
          <a:lstStyle/>
          <a:p>
            <a:pPr algn="ctr" indent="0" marL="0">
              <a:buNone/>
            </a:pPr>
            <a:r>
              <a:rPr lang="en-US" sz="1400" b="1" dirty="0">
                <a:solidFill>
                  <a:srgbClr val="D4A843"/>
                </a:solidFill>
                <a:latin typeface="Arial" pitchFamily="34" charset="0"/>
                <a:ea typeface="Arial" pitchFamily="34" charset="-122"/>
                <a:cs typeface="Arial" pitchFamily="34" charset="-120"/>
              </a:rPr>
              <a:t>شركة النجاح للاستثمار</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C"/>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1B2B5E"/>
          </a:solidFill>
          <a:ln w="12700">
            <a:solidFill>
              <a:srgbClr val="1B2B5E"/>
            </a:solidFill>
            <a:prstDash val="solid"/>
          </a:ln>
        </p:spPr>
      </p:sp>
      <p:sp>
        <p:nvSpPr>
          <p:cNvPr id="3" name="Shape 1"/>
          <p:cNvSpPr/>
          <p:nvPr/>
        </p:nvSpPr>
        <p:spPr>
          <a:xfrm>
            <a:off x="0" y="0"/>
            <a:ext cx="73152" cy="5143500"/>
          </a:xfrm>
          <a:prstGeom prst="rect">
            <a:avLst/>
          </a:prstGeom>
          <a:solidFill>
            <a:srgbClr val="D4A843"/>
          </a:solidFill>
          <a:ln w="12700">
            <a:solidFill>
              <a:srgbClr val="D4A843"/>
            </a:solidFill>
            <a:prstDash val="solid"/>
          </a:ln>
        </p:spPr>
      </p:sp>
      <p:sp>
        <p:nvSpPr>
          <p:cNvPr id="4" name="Text 2"/>
          <p:cNvSpPr/>
          <p:nvPr/>
        </p:nvSpPr>
        <p:spPr>
          <a:xfrm>
            <a:off x="137160" y="457200"/>
            <a:ext cx="2606040" cy="64008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المحتويات</a:t>
            </a:r>
            <a:endParaRPr lang="en-US" sz="2800" dirty="0"/>
          </a:p>
        </p:txBody>
      </p:sp>
      <p:sp>
        <p:nvSpPr>
          <p:cNvPr id="5" name="Shape 3"/>
          <p:cNvSpPr/>
          <p:nvPr/>
        </p:nvSpPr>
        <p:spPr>
          <a:xfrm>
            <a:off x="274320" y="1188720"/>
            <a:ext cx="2194560" cy="0"/>
          </a:xfrm>
          <a:prstGeom prst="line">
            <a:avLst/>
          </a:prstGeom>
          <a:noFill/>
          <a:ln w="19050">
            <a:solidFill>
              <a:srgbClr val="D4A843"/>
            </a:solidFill>
            <a:prstDash val="solid"/>
          </a:ln>
        </p:spPr>
      </p:sp>
      <p:sp>
        <p:nvSpPr>
          <p:cNvPr id="6" name="Text 4"/>
          <p:cNvSpPr/>
          <p:nvPr/>
        </p:nvSpPr>
        <p:spPr>
          <a:xfrm>
            <a:off x="137160" y="1261872"/>
            <a:ext cx="2606040" cy="320040"/>
          </a:xfrm>
          <a:prstGeom prst="rect">
            <a:avLst/>
          </a:prstGeom>
          <a:noFill/>
          <a:ln/>
        </p:spPr>
        <p:txBody>
          <a:bodyPr wrap="square" rtlCol="0" anchor="ctr"/>
          <a:lstStyle/>
          <a:p>
            <a:pPr algn="ctr" indent="0" marL="0">
              <a:buNone/>
            </a:pPr>
            <a:r>
              <a:rPr lang="en-US" sz="900" spc="400" kern="0" dirty="0">
                <a:solidFill>
                  <a:srgbClr val="8899BB"/>
                </a:solidFill>
                <a:latin typeface="Calibri" pitchFamily="34" charset="0"/>
                <a:ea typeface="Calibri" pitchFamily="34" charset="-122"/>
                <a:cs typeface="Calibri" pitchFamily="34" charset="-120"/>
              </a:rPr>
              <a:t>CONTENTS</a:t>
            </a:r>
            <a:endParaRPr lang="en-US" sz="900" dirty="0"/>
          </a:p>
        </p:txBody>
      </p:sp>
      <p:sp>
        <p:nvSpPr>
          <p:cNvPr id="7" name="Shape 5"/>
          <p:cNvSpPr/>
          <p:nvPr/>
        </p:nvSpPr>
        <p:spPr>
          <a:xfrm>
            <a:off x="8229600" y="1737360"/>
            <a:ext cx="384048" cy="384048"/>
          </a:xfrm>
          <a:prstGeom prst="ellipse">
            <a:avLst/>
          </a:prstGeom>
          <a:solidFill>
            <a:srgbClr val="D4A843"/>
          </a:solidFill>
          <a:ln w="12700">
            <a:solidFill>
              <a:srgbClr val="D4A843"/>
            </a:solidFill>
            <a:prstDash val="solid"/>
          </a:ln>
        </p:spPr>
      </p:sp>
      <p:sp>
        <p:nvSpPr>
          <p:cNvPr id="8" name="Text 6"/>
          <p:cNvSpPr/>
          <p:nvPr/>
        </p:nvSpPr>
        <p:spPr>
          <a:xfrm>
            <a:off x="8229600" y="1737360"/>
            <a:ext cx="384048" cy="384048"/>
          </a:xfrm>
          <a:prstGeom prst="rect">
            <a:avLst/>
          </a:prstGeom>
          <a:noFill/>
          <a:ln/>
        </p:spPr>
        <p:txBody>
          <a:bodyPr wrap="square" lIns="0" tIns="0" rIns="0" bIns="0" rtlCol="0" anchor="ctr"/>
          <a:lstStyle/>
          <a:p>
            <a:pPr algn="ctr" indent="0" marL="0">
              <a:buNone/>
            </a:pPr>
            <a:r>
              <a:rPr lang="en-US" sz="1100" b="1" dirty="0">
                <a:solidFill>
                  <a:srgbClr val="1B2B5E"/>
                </a:solidFill>
                <a:latin typeface="Calibri" pitchFamily="34" charset="0"/>
                <a:ea typeface="Calibri" pitchFamily="34" charset="-122"/>
                <a:cs typeface="Calibri" pitchFamily="34" charset="-120"/>
              </a:rPr>
              <a:t>01</a:t>
            </a:r>
            <a:endParaRPr lang="en-US" sz="1100" dirty="0"/>
          </a:p>
        </p:txBody>
      </p:sp>
      <p:sp>
        <p:nvSpPr>
          <p:cNvPr id="9" name="Text 7"/>
          <p:cNvSpPr/>
          <p:nvPr/>
        </p:nvSpPr>
        <p:spPr>
          <a:xfrm>
            <a:off x="3200400" y="1719072"/>
            <a:ext cx="4919472" cy="411480"/>
          </a:xfrm>
          <a:prstGeom prst="rect">
            <a:avLst/>
          </a:prstGeom>
          <a:noFill/>
          <a:ln/>
        </p:spPr>
        <p:txBody>
          <a:bodyPr wrap="square" rtlCol="0" anchor="ctr"/>
          <a:lstStyle/>
          <a:p>
            <a:pPr algn="r" indent="0" marL="0">
              <a:buNone/>
            </a:pPr>
            <a:r>
              <a:rPr lang="en-US" sz="1600" dirty="0">
                <a:solidFill>
                  <a:srgbClr val="1B2B5E"/>
                </a:solidFill>
                <a:latin typeface="Arial" pitchFamily="34" charset="0"/>
                <a:ea typeface="Arial" pitchFamily="34" charset="-122"/>
                <a:cs typeface="Arial" pitchFamily="34" charset="-120"/>
              </a:rPr>
              <a:t>نظرة عامة على الأداء</a:t>
            </a:r>
            <a:endParaRPr lang="en-US" sz="1600" dirty="0"/>
          </a:p>
        </p:txBody>
      </p:sp>
      <p:sp>
        <p:nvSpPr>
          <p:cNvPr id="10" name="Shape 8"/>
          <p:cNvSpPr/>
          <p:nvPr/>
        </p:nvSpPr>
        <p:spPr>
          <a:xfrm>
            <a:off x="3200400" y="2231136"/>
            <a:ext cx="5623560" cy="0"/>
          </a:xfrm>
          <a:prstGeom prst="line">
            <a:avLst/>
          </a:prstGeom>
          <a:noFill/>
          <a:ln w="9525">
            <a:solidFill>
              <a:srgbClr val="C0CCE0"/>
            </a:solidFill>
            <a:prstDash val="solid"/>
          </a:ln>
        </p:spPr>
      </p:sp>
      <p:sp>
        <p:nvSpPr>
          <p:cNvPr id="11" name="Shape 9"/>
          <p:cNvSpPr/>
          <p:nvPr/>
        </p:nvSpPr>
        <p:spPr>
          <a:xfrm>
            <a:off x="8229600" y="2304288"/>
            <a:ext cx="384048" cy="384048"/>
          </a:xfrm>
          <a:prstGeom prst="ellipse">
            <a:avLst/>
          </a:prstGeom>
          <a:solidFill>
            <a:srgbClr val="D4A843"/>
          </a:solidFill>
          <a:ln w="12700">
            <a:solidFill>
              <a:srgbClr val="D4A843"/>
            </a:solidFill>
            <a:prstDash val="solid"/>
          </a:ln>
        </p:spPr>
      </p:sp>
      <p:sp>
        <p:nvSpPr>
          <p:cNvPr id="12" name="Text 10"/>
          <p:cNvSpPr/>
          <p:nvPr/>
        </p:nvSpPr>
        <p:spPr>
          <a:xfrm>
            <a:off x="8229600" y="2304288"/>
            <a:ext cx="384048" cy="384048"/>
          </a:xfrm>
          <a:prstGeom prst="rect">
            <a:avLst/>
          </a:prstGeom>
          <a:noFill/>
          <a:ln/>
        </p:spPr>
        <p:txBody>
          <a:bodyPr wrap="square" lIns="0" tIns="0" rIns="0" bIns="0" rtlCol="0" anchor="ctr"/>
          <a:lstStyle/>
          <a:p>
            <a:pPr algn="ctr" indent="0" marL="0">
              <a:buNone/>
            </a:pPr>
            <a:r>
              <a:rPr lang="en-US" sz="1100" b="1" dirty="0">
                <a:solidFill>
                  <a:srgbClr val="1B2B5E"/>
                </a:solidFill>
                <a:latin typeface="Calibri" pitchFamily="34" charset="0"/>
                <a:ea typeface="Calibri" pitchFamily="34" charset="-122"/>
                <a:cs typeface="Calibri" pitchFamily="34" charset="-120"/>
              </a:rPr>
              <a:t>02</a:t>
            </a:r>
            <a:endParaRPr lang="en-US" sz="1100" dirty="0"/>
          </a:p>
        </p:txBody>
      </p:sp>
      <p:sp>
        <p:nvSpPr>
          <p:cNvPr id="13" name="Text 11"/>
          <p:cNvSpPr/>
          <p:nvPr/>
        </p:nvSpPr>
        <p:spPr>
          <a:xfrm>
            <a:off x="3200400" y="2286000"/>
            <a:ext cx="4919472" cy="411480"/>
          </a:xfrm>
          <a:prstGeom prst="rect">
            <a:avLst/>
          </a:prstGeom>
          <a:noFill/>
          <a:ln/>
        </p:spPr>
        <p:txBody>
          <a:bodyPr wrap="square" rtlCol="0" anchor="ctr"/>
          <a:lstStyle/>
          <a:p>
            <a:pPr algn="r" indent="0" marL="0">
              <a:buNone/>
            </a:pPr>
            <a:r>
              <a:rPr lang="en-US" sz="1600" dirty="0">
                <a:solidFill>
                  <a:srgbClr val="1B2B5E"/>
                </a:solidFill>
                <a:latin typeface="Arial" pitchFamily="34" charset="0"/>
                <a:ea typeface="Arial" pitchFamily="34" charset="-122"/>
                <a:cs typeface="Arial" pitchFamily="34" charset="-120"/>
              </a:rPr>
              <a:t>النتائج المالية</a:t>
            </a:r>
            <a:endParaRPr lang="en-US" sz="1600" dirty="0"/>
          </a:p>
        </p:txBody>
      </p:sp>
      <p:sp>
        <p:nvSpPr>
          <p:cNvPr id="14" name="Shape 12"/>
          <p:cNvSpPr/>
          <p:nvPr/>
        </p:nvSpPr>
        <p:spPr>
          <a:xfrm>
            <a:off x="3200400" y="2798064"/>
            <a:ext cx="5623560" cy="0"/>
          </a:xfrm>
          <a:prstGeom prst="line">
            <a:avLst/>
          </a:prstGeom>
          <a:noFill/>
          <a:ln w="9525">
            <a:solidFill>
              <a:srgbClr val="C0CCE0"/>
            </a:solidFill>
            <a:prstDash val="solid"/>
          </a:ln>
        </p:spPr>
      </p:sp>
      <p:sp>
        <p:nvSpPr>
          <p:cNvPr id="15" name="Shape 13"/>
          <p:cNvSpPr/>
          <p:nvPr/>
        </p:nvSpPr>
        <p:spPr>
          <a:xfrm>
            <a:off x="8229600" y="2871216"/>
            <a:ext cx="384048" cy="384048"/>
          </a:xfrm>
          <a:prstGeom prst="ellipse">
            <a:avLst/>
          </a:prstGeom>
          <a:solidFill>
            <a:srgbClr val="D4A843"/>
          </a:solidFill>
          <a:ln w="12700">
            <a:solidFill>
              <a:srgbClr val="D4A843"/>
            </a:solidFill>
            <a:prstDash val="solid"/>
          </a:ln>
        </p:spPr>
      </p:sp>
      <p:sp>
        <p:nvSpPr>
          <p:cNvPr id="16" name="Text 14"/>
          <p:cNvSpPr/>
          <p:nvPr/>
        </p:nvSpPr>
        <p:spPr>
          <a:xfrm>
            <a:off x="8229600" y="2871216"/>
            <a:ext cx="384048" cy="384048"/>
          </a:xfrm>
          <a:prstGeom prst="rect">
            <a:avLst/>
          </a:prstGeom>
          <a:noFill/>
          <a:ln/>
        </p:spPr>
        <p:txBody>
          <a:bodyPr wrap="square" lIns="0" tIns="0" rIns="0" bIns="0" rtlCol="0" anchor="ctr"/>
          <a:lstStyle/>
          <a:p>
            <a:pPr algn="ctr" indent="0" marL="0">
              <a:buNone/>
            </a:pPr>
            <a:r>
              <a:rPr lang="en-US" sz="1100" b="1" dirty="0">
                <a:solidFill>
                  <a:srgbClr val="1B2B5E"/>
                </a:solidFill>
                <a:latin typeface="Calibri" pitchFamily="34" charset="0"/>
                <a:ea typeface="Calibri" pitchFamily="34" charset="-122"/>
                <a:cs typeface="Calibri" pitchFamily="34" charset="-120"/>
              </a:rPr>
              <a:t>03</a:t>
            </a:r>
            <a:endParaRPr lang="en-US" sz="1100" dirty="0"/>
          </a:p>
        </p:txBody>
      </p:sp>
      <p:sp>
        <p:nvSpPr>
          <p:cNvPr id="17" name="Text 15"/>
          <p:cNvSpPr/>
          <p:nvPr/>
        </p:nvSpPr>
        <p:spPr>
          <a:xfrm>
            <a:off x="3200400" y="2852928"/>
            <a:ext cx="4919472" cy="411480"/>
          </a:xfrm>
          <a:prstGeom prst="rect">
            <a:avLst/>
          </a:prstGeom>
          <a:noFill/>
          <a:ln/>
        </p:spPr>
        <p:txBody>
          <a:bodyPr wrap="square" rtlCol="0" anchor="ctr"/>
          <a:lstStyle/>
          <a:p>
            <a:pPr algn="r" indent="0" marL="0">
              <a:buNone/>
            </a:pPr>
            <a:r>
              <a:rPr lang="en-US" sz="1600" dirty="0">
                <a:solidFill>
                  <a:srgbClr val="1B2B5E"/>
                </a:solidFill>
                <a:latin typeface="Arial" pitchFamily="34" charset="0"/>
                <a:ea typeface="Arial" pitchFamily="34" charset="-122"/>
                <a:cs typeface="Arial" pitchFamily="34" charset="-120"/>
              </a:rPr>
              <a:t>المبيعات والإيرادات</a:t>
            </a:r>
            <a:endParaRPr lang="en-US" sz="1600" dirty="0"/>
          </a:p>
        </p:txBody>
      </p:sp>
      <p:sp>
        <p:nvSpPr>
          <p:cNvPr id="18" name="Shape 16"/>
          <p:cNvSpPr/>
          <p:nvPr/>
        </p:nvSpPr>
        <p:spPr>
          <a:xfrm>
            <a:off x="3200400" y="3364992"/>
            <a:ext cx="5623560" cy="0"/>
          </a:xfrm>
          <a:prstGeom prst="line">
            <a:avLst/>
          </a:prstGeom>
          <a:noFill/>
          <a:ln w="9525">
            <a:solidFill>
              <a:srgbClr val="C0CCE0"/>
            </a:solidFill>
            <a:prstDash val="solid"/>
          </a:ln>
        </p:spPr>
      </p:sp>
      <p:sp>
        <p:nvSpPr>
          <p:cNvPr id="19" name="Shape 17"/>
          <p:cNvSpPr/>
          <p:nvPr/>
        </p:nvSpPr>
        <p:spPr>
          <a:xfrm>
            <a:off x="8229600" y="3438144"/>
            <a:ext cx="384048" cy="384048"/>
          </a:xfrm>
          <a:prstGeom prst="ellipse">
            <a:avLst/>
          </a:prstGeom>
          <a:solidFill>
            <a:srgbClr val="D4A843"/>
          </a:solidFill>
          <a:ln w="12700">
            <a:solidFill>
              <a:srgbClr val="D4A843"/>
            </a:solidFill>
            <a:prstDash val="solid"/>
          </a:ln>
        </p:spPr>
      </p:sp>
      <p:sp>
        <p:nvSpPr>
          <p:cNvPr id="20" name="Text 18"/>
          <p:cNvSpPr/>
          <p:nvPr/>
        </p:nvSpPr>
        <p:spPr>
          <a:xfrm>
            <a:off x="8229600" y="3438144"/>
            <a:ext cx="384048" cy="384048"/>
          </a:xfrm>
          <a:prstGeom prst="rect">
            <a:avLst/>
          </a:prstGeom>
          <a:noFill/>
          <a:ln/>
        </p:spPr>
        <p:txBody>
          <a:bodyPr wrap="square" lIns="0" tIns="0" rIns="0" bIns="0" rtlCol="0" anchor="ctr"/>
          <a:lstStyle/>
          <a:p>
            <a:pPr algn="ctr" indent="0" marL="0">
              <a:buNone/>
            </a:pPr>
            <a:r>
              <a:rPr lang="en-US" sz="1100" b="1" dirty="0">
                <a:solidFill>
                  <a:srgbClr val="1B2B5E"/>
                </a:solidFill>
                <a:latin typeface="Calibri" pitchFamily="34" charset="0"/>
                <a:ea typeface="Calibri" pitchFamily="34" charset="-122"/>
                <a:cs typeface="Calibri" pitchFamily="34" charset="-120"/>
              </a:rPr>
              <a:t>04</a:t>
            </a:r>
            <a:endParaRPr lang="en-US" sz="1100" dirty="0"/>
          </a:p>
        </p:txBody>
      </p:sp>
      <p:sp>
        <p:nvSpPr>
          <p:cNvPr id="21" name="Text 19"/>
          <p:cNvSpPr/>
          <p:nvPr/>
        </p:nvSpPr>
        <p:spPr>
          <a:xfrm>
            <a:off x="3200400" y="3419856"/>
            <a:ext cx="4919472" cy="411480"/>
          </a:xfrm>
          <a:prstGeom prst="rect">
            <a:avLst/>
          </a:prstGeom>
          <a:noFill/>
          <a:ln/>
        </p:spPr>
        <p:txBody>
          <a:bodyPr wrap="square" rtlCol="0" anchor="ctr"/>
          <a:lstStyle/>
          <a:p>
            <a:pPr algn="r" indent="0" marL="0">
              <a:buNone/>
            </a:pPr>
            <a:r>
              <a:rPr lang="en-US" sz="1600" dirty="0">
                <a:solidFill>
                  <a:srgbClr val="1B2B5E"/>
                </a:solidFill>
                <a:latin typeface="Arial" pitchFamily="34" charset="0"/>
                <a:ea typeface="Arial" pitchFamily="34" charset="-122"/>
                <a:cs typeface="Arial" pitchFamily="34" charset="-120"/>
              </a:rPr>
              <a:t>المشاريع الرئيسية</a:t>
            </a:r>
            <a:endParaRPr lang="en-US" sz="1600" dirty="0"/>
          </a:p>
        </p:txBody>
      </p:sp>
      <p:sp>
        <p:nvSpPr>
          <p:cNvPr id="22" name="Shape 20"/>
          <p:cNvSpPr/>
          <p:nvPr/>
        </p:nvSpPr>
        <p:spPr>
          <a:xfrm>
            <a:off x="3200400" y="3931920"/>
            <a:ext cx="5623560" cy="0"/>
          </a:xfrm>
          <a:prstGeom prst="line">
            <a:avLst/>
          </a:prstGeom>
          <a:noFill/>
          <a:ln w="9525">
            <a:solidFill>
              <a:srgbClr val="C0CCE0"/>
            </a:solidFill>
            <a:prstDash val="solid"/>
          </a:ln>
        </p:spPr>
      </p:sp>
      <p:sp>
        <p:nvSpPr>
          <p:cNvPr id="23" name="Shape 21"/>
          <p:cNvSpPr/>
          <p:nvPr/>
        </p:nvSpPr>
        <p:spPr>
          <a:xfrm>
            <a:off x="8229600" y="4005072"/>
            <a:ext cx="384048" cy="384048"/>
          </a:xfrm>
          <a:prstGeom prst="ellipse">
            <a:avLst/>
          </a:prstGeom>
          <a:solidFill>
            <a:srgbClr val="D4A843"/>
          </a:solidFill>
          <a:ln w="12700">
            <a:solidFill>
              <a:srgbClr val="D4A843"/>
            </a:solidFill>
            <a:prstDash val="solid"/>
          </a:ln>
        </p:spPr>
      </p:sp>
      <p:sp>
        <p:nvSpPr>
          <p:cNvPr id="24" name="Text 22"/>
          <p:cNvSpPr/>
          <p:nvPr/>
        </p:nvSpPr>
        <p:spPr>
          <a:xfrm>
            <a:off x="8229600" y="4005072"/>
            <a:ext cx="384048" cy="384048"/>
          </a:xfrm>
          <a:prstGeom prst="rect">
            <a:avLst/>
          </a:prstGeom>
          <a:noFill/>
          <a:ln/>
        </p:spPr>
        <p:txBody>
          <a:bodyPr wrap="square" lIns="0" tIns="0" rIns="0" bIns="0" rtlCol="0" anchor="ctr"/>
          <a:lstStyle/>
          <a:p>
            <a:pPr algn="ctr" indent="0" marL="0">
              <a:buNone/>
            </a:pPr>
            <a:r>
              <a:rPr lang="en-US" sz="1100" b="1" dirty="0">
                <a:solidFill>
                  <a:srgbClr val="1B2B5E"/>
                </a:solidFill>
                <a:latin typeface="Calibri" pitchFamily="34" charset="0"/>
                <a:ea typeface="Calibri" pitchFamily="34" charset="-122"/>
                <a:cs typeface="Calibri" pitchFamily="34" charset="-120"/>
              </a:rPr>
              <a:t>05</a:t>
            </a:r>
            <a:endParaRPr lang="en-US" sz="1100" dirty="0"/>
          </a:p>
        </p:txBody>
      </p:sp>
      <p:sp>
        <p:nvSpPr>
          <p:cNvPr id="25" name="Text 23"/>
          <p:cNvSpPr/>
          <p:nvPr/>
        </p:nvSpPr>
        <p:spPr>
          <a:xfrm>
            <a:off x="3200400" y="3986784"/>
            <a:ext cx="4919472" cy="411480"/>
          </a:xfrm>
          <a:prstGeom prst="rect">
            <a:avLst/>
          </a:prstGeom>
          <a:noFill/>
          <a:ln/>
        </p:spPr>
        <p:txBody>
          <a:bodyPr wrap="square" rtlCol="0" anchor="ctr"/>
          <a:lstStyle/>
          <a:p>
            <a:pPr algn="r" indent="0" marL="0">
              <a:buNone/>
            </a:pPr>
            <a:r>
              <a:rPr lang="en-US" sz="1600" dirty="0">
                <a:solidFill>
                  <a:srgbClr val="1B2B5E"/>
                </a:solidFill>
                <a:latin typeface="Arial" pitchFamily="34" charset="0"/>
                <a:ea typeface="Arial" pitchFamily="34" charset="-122"/>
                <a:cs typeface="Arial" pitchFamily="34" charset="-120"/>
              </a:rPr>
              <a:t>الخطة المستقبلية</a:t>
            </a:r>
            <a:endParaRPr lang="en-US" sz="1600" dirty="0"/>
          </a:p>
        </p:txBody>
      </p:sp>
      <p:sp>
        <p:nvSpPr>
          <p:cNvPr id="26" name="Shape 24"/>
          <p:cNvSpPr/>
          <p:nvPr/>
        </p:nvSpPr>
        <p:spPr>
          <a:xfrm>
            <a:off x="3200400" y="4498848"/>
            <a:ext cx="5623560" cy="0"/>
          </a:xfrm>
          <a:prstGeom prst="line">
            <a:avLst/>
          </a:prstGeom>
          <a:noFill/>
          <a:ln w="9525">
            <a:solidFill>
              <a:srgbClr val="C0CCE0"/>
            </a:solidFill>
            <a:prstDash val="solid"/>
          </a:ln>
        </p:spPr>
      </p:sp>
      <p:sp>
        <p:nvSpPr>
          <p:cNvPr id="27" name="Shape 25"/>
          <p:cNvSpPr/>
          <p:nvPr/>
        </p:nvSpPr>
        <p:spPr>
          <a:xfrm>
            <a:off x="8229600" y="4572000"/>
            <a:ext cx="384048" cy="384048"/>
          </a:xfrm>
          <a:prstGeom prst="ellipse">
            <a:avLst/>
          </a:prstGeom>
          <a:solidFill>
            <a:srgbClr val="D4A843"/>
          </a:solidFill>
          <a:ln w="12700">
            <a:solidFill>
              <a:srgbClr val="D4A843"/>
            </a:solidFill>
            <a:prstDash val="solid"/>
          </a:ln>
        </p:spPr>
      </p:sp>
      <p:sp>
        <p:nvSpPr>
          <p:cNvPr id="28" name="Text 26"/>
          <p:cNvSpPr/>
          <p:nvPr/>
        </p:nvSpPr>
        <p:spPr>
          <a:xfrm>
            <a:off x="8229600" y="4572000"/>
            <a:ext cx="384048" cy="384048"/>
          </a:xfrm>
          <a:prstGeom prst="rect">
            <a:avLst/>
          </a:prstGeom>
          <a:noFill/>
          <a:ln/>
        </p:spPr>
        <p:txBody>
          <a:bodyPr wrap="square" lIns="0" tIns="0" rIns="0" bIns="0" rtlCol="0" anchor="ctr"/>
          <a:lstStyle/>
          <a:p>
            <a:pPr algn="ctr" indent="0" marL="0">
              <a:buNone/>
            </a:pPr>
            <a:r>
              <a:rPr lang="en-US" sz="1100" b="1" dirty="0">
                <a:solidFill>
                  <a:srgbClr val="1B2B5E"/>
                </a:solidFill>
                <a:latin typeface="Calibri" pitchFamily="34" charset="0"/>
                <a:ea typeface="Calibri" pitchFamily="34" charset="-122"/>
                <a:cs typeface="Calibri" pitchFamily="34" charset="-120"/>
              </a:rPr>
              <a:t>06</a:t>
            </a:r>
            <a:endParaRPr lang="en-US" sz="1100" dirty="0"/>
          </a:p>
        </p:txBody>
      </p:sp>
      <p:sp>
        <p:nvSpPr>
          <p:cNvPr id="29" name="Text 27"/>
          <p:cNvSpPr/>
          <p:nvPr/>
        </p:nvSpPr>
        <p:spPr>
          <a:xfrm>
            <a:off x="3200400" y="4553712"/>
            <a:ext cx="4919472" cy="411480"/>
          </a:xfrm>
          <a:prstGeom prst="rect">
            <a:avLst/>
          </a:prstGeom>
          <a:noFill/>
          <a:ln/>
        </p:spPr>
        <p:txBody>
          <a:bodyPr wrap="square" rtlCol="0" anchor="ctr"/>
          <a:lstStyle/>
          <a:p>
            <a:pPr algn="r" indent="0" marL="0">
              <a:buNone/>
            </a:pPr>
            <a:r>
              <a:rPr lang="en-US" sz="1600" dirty="0">
                <a:solidFill>
                  <a:srgbClr val="1B2B5E"/>
                </a:solidFill>
                <a:latin typeface="Arial" pitchFamily="34" charset="0"/>
                <a:ea typeface="Arial" pitchFamily="34" charset="-122"/>
                <a:cs typeface="Arial" pitchFamily="34" charset="-120"/>
              </a:rPr>
              <a:t>الخلاصة والتوصيات</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B5E"/>
          </a:solidFill>
          <a:ln w="12700">
            <a:solidFill>
              <a:srgbClr val="1B2B5E"/>
            </a:solidFill>
            <a:prstDash val="solid"/>
          </a:ln>
        </p:spPr>
      </p:sp>
      <p:sp>
        <p:nvSpPr>
          <p:cNvPr id="3" name="Shape 1"/>
          <p:cNvSpPr/>
          <p:nvPr/>
        </p:nvSpPr>
        <p:spPr>
          <a:xfrm>
            <a:off x="0" y="0"/>
            <a:ext cx="9144000" cy="54864"/>
          </a:xfrm>
          <a:prstGeom prst="rect">
            <a:avLst/>
          </a:prstGeom>
          <a:solidFill>
            <a:srgbClr val="D4A843"/>
          </a:solidFill>
          <a:ln w="12700">
            <a:solidFill>
              <a:srgbClr val="D4A843"/>
            </a:solidFill>
            <a:prstDash val="solid"/>
          </a:ln>
        </p:spPr>
      </p:sp>
      <p:sp>
        <p:nvSpPr>
          <p:cNvPr id="4" name="Text 2"/>
          <p:cNvSpPr/>
          <p:nvPr/>
        </p:nvSpPr>
        <p:spPr>
          <a:xfrm>
            <a:off x="365760" y="164592"/>
            <a:ext cx="8412480" cy="594360"/>
          </a:xfrm>
          <a:prstGeom prst="rect">
            <a:avLst/>
          </a:prstGeom>
          <a:noFill/>
          <a:ln/>
        </p:spPr>
        <p:txBody>
          <a:bodyPr wrap="square" rtlCol="0" anchor="ctr"/>
          <a:lstStyle/>
          <a:p>
            <a:pPr algn="r" indent="0" marL="0">
              <a:buNone/>
            </a:pPr>
            <a:r>
              <a:rPr lang="en-US" sz="3000" b="1" dirty="0">
                <a:solidFill>
                  <a:srgbClr val="FFFFFF"/>
                </a:solidFill>
                <a:latin typeface="Arial" pitchFamily="34" charset="0"/>
                <a:ea typeface="Arial" pitchFamily="34" charset="-122"/>
                <a:cs typeface="Arial" pitchFamily="34" charset="-120"/>
              </a:rPr>
              <a:t>الملخص التنفيذي</a:t>
            </a:r>
            <a:endParaRPr lang="en-US" sz="3000" dirty="0"/>
          </a:p>
        </p:txBody>
      </p:sp>
      <p:sp>
        <p:nvSpPr>
          <p:cNvPr id="5" name="Text 3"/>
          <p:cNvSpPr/>
          <p:nvPr/>
        </p:nvSpPr>
        <p:spPr>
          <a:xfrm>
            <a:off x="365760" y="694944"/>
            <a:ext cx="8412480" cy="274320"/>
          </a:xfrm>
          <a:prstGeom prst="rect">
            <a:avLst/>
          </a:prstGeom>
          <a:noFill/>
          <a:ln/>
        </p:spPr>
        <p:txBody>
          <a:bodyPr wrap="square" rtlCol="0" anchor="ctr"/>
          <a:lstStyle/>
          <a:p>
            <a:pPr algn="r" indent="0" marL="0">
              <a:buNone/>
            </a:pPr>
            <a:r>
              <a:rPr lang="en-US" sz="900" spc="400" kern="0" dirty="0">
                <a:solidFill>
                  <a:srgbClr val="8899BB"/>
                </a:solidFill>
                <a:latin typeface="Calibri" pitchFamily="34" charset="0"/>
                <a:ea typeface="Calibri" pitchFamily="34" charset="-122"/>
                <a:cs typeface="Calibri" pitchFamily="34" charset="-120"/>
              </a:rPr>
              <a:t>EXECUTIVE SUMMARY</a:t>
            </a:r>
            <a:endParaRPr lang="en-US" sz="900" dirty="0"/>
          </a:p>
        </p:txBody>
      </p:sp>
      <p:sp>
        <p:nvSpPr>
          <p:cNvPr id="6" name="Shape 4"/>
          <p:cNvSpPr/>
          <p:nvPr/>
        </p:nvSpPr>
        <p:spPr>
          <a:xfrm>
            <a:off x="457200" y="1261872"/>
            <a:ext cx="2606040" cy="1737360"/>
          </a:xfrm>
          <a:prstGeom prst="rect">
            <a:avLst/>
          </a:prstGeom>
          <a:solidFill>
            <a:srgbClr val="1B2B5E"/>
          </a:solidFill>
          <a:ln w="12700">
            <a:solidFill>
              <a:srgbClr val="1B2B5E"/>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457200" y="1261872"/>
            <a:ext cx="2606040" cy="54864"/>
          </a:xfrm>
          <a:prstGeom prst="rect">
            <a:avLst/>
          </a:prstGeom>
          <a:solidFill>
            <a:srgbClr val="D4A843"/>
          </a:solidFill>
          <a:ln w="12700">
            <a:solidFill>
              <a:srgbClr val="D4A843"/>
            </a:solidFill>
            <a:prstDash val="solid"/>
          </a:ln>
        </p:spPr>
      </p:sp>
      <p:sp>
        <p:nvSpPr>
          <p:cNvPr id="8" name="Text 6"/>
          <p:cNvSpPr/>
          <p:nvPr/>
        </p:nvSpPr>
        <p:spPr>
          <a:xfrm>
            <a:off x="548640" y="1389888"/>
            <a:ext cx="2423160" cy="713232"/>
          </a:xfrm>
          <a:prstGeom prst="rect">
            <a:avLst/>
          </a:prstGeom>
          <a:noFill/>
          <a:ln/>
        </p:spPr>
        <p:txBody>
          <a:bodyPr wrap="square"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12.5M</a:t>
            </a:r>
            <a:endParaRPr lang="en-US" sz="3600" dirty="0"/>
          </a:p>
        </p:txBody>
      </p:sp>
      <p:sp>
        <p:nvSpPr>
          <p:cNvPr id="9" name="Text 7"/>
          <p:cNvSpPr/>
          <p:nvPr/>
        </p:nvSpPr>
        <p:spPr>
          <a:xfrm>
            <a:off x="548640" y="2084832"/>
            <a:ext cx="2423160" cy="274320"/>
          </a:xfrm>
          <a:prstGeom prst="rect">
            <a:avLst/>
          </a:prstGeom>
          <a:noFill/>
          <a:ln/>
        </p:spPr>
        <p:txBody>
          <a:bodyPr wrap="square" rtlCol="0" anchor="ctr"/>
          <a:lstStyle/>
          <a:p>
            <a:pPr algn="ctr" indent="0" marL="0">
              <a:buNone/>
            </a:pPr>
            <a:r>
              <a:rPr lang="en-US" sz="1200" dirty="0">
                <a:solidFill>
                  <a:srgbClr val="CADCFC"/>
                </a:solidFill>
                <a:latin typeface="Arial" pitchFamily="34" charset="0"/>
                <a:ea typeface="Arial" pitchFamily="34" charset="-122"/>
                <a:cs typeface="Arial" pitchFamily="34" charset="-120"/>
              </a:rPr>
              <a:t>ريال</a:t>
            </a:r>
            <a:endParaRPr lang="en-US" sz="1200" dirty="0"/>
          </a:p>
        </p:txBody>
      </p:sp>
      <p:sp>
        <p:nvSpPr>
          <p:cNvPr id="10" name="Text 8"/>
          <p:cNvSpPr/>
          <p:nvPr/>
        </p:nvSpPr>
        <p:spPr>
          <a:xfrm>
            <a:off x="548640" y="2377440"/>
            <a:ext cx="2423160" cy="384048"/>
          </a:xfrm>
          <a:prstGeom prst="rect">
            <a:avLst/>
          </a:prstGeom>
          <a:noFill/>
          <a:ln/>
        </p:spPr>
        <p:txBody>
          <a:bodyPr wrap="square" rtlCol="0" anchor="ctr"/>
          <a:lstStyle/>
          <a:p>
            <a:pPr algn="ctr" indent="0" marL="0">
              <a:buNone/>
            </a:pPr>
            <a:r>
              <a:rPr lang="en-US" sz="1200" b="1" dirty="0">
                <a:solidFill>
                  <a:srgbClr val="D4A843"/>
                </a:solidFill>
                <a:latin typeface="Arial" pitchFamily="34" charset="0"/>
                <a:ea typeface="Arial" pitchFamily="34" charset="-122"/>
                <a:cs typeface="Arial" pitchFamily="34" charset="-120"/>
              </a:rPr>
              <a:t>إجمالي الإيرادات</a:t>
            </a:r>
            <a:endParaRPr lang="en-US" sz="1200" dirty="0"/>
          </a:p>
        </p:txBody>
      </p:sp>
      <p:sp>
        <p:nvSpPr>
          <p:cNvPr id="11" name="Shape 9"/>
          <p:cNvSpPr/>
          <p:nvPr/>
        </p:nvSpPr>
        <p:spPr>
          <a:xfrm>
            <a:off x="960120" y="2926080"/>
            <a:ext cx="1600200" cy="329184"/>
          </a:xfrm>
          <a:prstGeom prst="rect">
            <a:avLst/>
          </a:prstGeom>
          <a:solidFill>
            <a:srgbClr val="D4A843"/>
          </a:solidFill>
          <a:ln w="12700">
            <a:solidFill>
              <a:srgbClr val="D4A843"/>
            </a:solidFill>
            <a:prstDash val="solid"/>
          </a:ln>
        </p:spPr>
      </p:sp>
      <p:sp>
        <p:nvSpPr>
          <p:cNvPr id="12" name="Text 10"/>
          <p:cNvSpPr/>
          <p:nvPr/>
        </p:nvSpPr>
        <p:spPr>
          <a:xfrm>
            <a:off x="960120" y="2926080"/>
            <a:ext cx="1600200" cy="329184"/>
          </a:xfrm>
          <a:prstGeom prst="rect">
            <a:avLst/>
          </a:prstGeom>
          <a:noFill/>
          <a:ln/>
        </p:spPr>
        <p:txBody>
          <a:bodyPr wrap="square" rtlCol="0" anchor="ctr"/>
          <a:lstStyle/>
          <a:p>
            <a:pPr algn="ctr" indent="0" marL="0">
              <a:buNone/>
            </a:pPr>
            <a:r>
              <a:rPr lang="en-US" sz="1200" b="1" dirty="0">
                <a:solidFill>
                  <a:srgbClr val="1B2B5E"/>
                </a:solidFill>
                <a:latin typeface="Calibri" pitchFamily="34" charset="0"/>
                <a:ea typeface="Calibri" pitchFamily="34" charset="-122"/>
                <a:cs typeface="Calibri" pitchFamily="34" charset="-120"/>
              </a:rPr>
              <a:t>18% ↑</a:t>
            </a:r>
            <a:endParaRPr lang="en-US" sz="1200" dirty="0"/>
          </a:p>
        </p:txBody>
      </p:sp>
      <p:sp>
        <p:nvSpPr>
          <p:cNvPr id="13" name="Shape 11"/>
          <p:cNvSpPr/>
          <p:nvPr/>
        </p:nvSpPr>
        <p:spPr>
          <a:xfrm>
            <a:off x="3246120" y="1261872"/>
            <a:ext cx="2606040" cy="1737360"/>
          </a:xfrm>
          <a:prstGeom prst="rect">
            <a:avLst/>
          </a:prstGeom>
          <a:solidFill>
            <a:srgbClr val="0A6E5F"/>
          </a:solidFill>
          <a:ln w="12700">
            <a:solidFill>
              <a:srgbClr val="0A6E5F"/>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3246120" y="1261872"/>
            <a:ext cx="2606040" cy="54864"/>
          </a:xfrm>
          <a:prstGeom prst="rect">
            <a:avLst/>
          </a:prstGeom>
          <a:solidFill>
            <a:srgbClr val="D4A843"/>
          </a:solidFill>
          <a:ln w="12700">
            <a:solidFill>
              <a:srgbClr val="D4A843"/>
            </a:solidFill>
            <a:prstDash val="solid"/>
          </a:ln>
        </p:spPr>
      </p:sp>
      <p:sp>
        <p:nvSpPr>
          <p:cNvPr id="15" name="Text 13"/>
          <p:cNvSpPr/>
          <p:nvPr/>
        </p:nvSpPr>
        <p:spPr>
          <a:xfrm>
            <a:off x="3337560" y="1389888"/>
            <a:ext cx="2423160" cy="713232"/>
          </a:xfrm>
          <a:prstGeom prst="rect">
            <a:avLst/>
          </a:prstGeom>
          <a:noFill/>
          <a:ln/>
        </p:spPr>
        <p:txBody>
          <a:bodyPr wrap="square"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340</a:t>
            </a:r>
            <a:endParaRPr lang="en-US" sz="3600" dirty="0"/>
          </a:p>
        </p:txBody>
      </p:sp>
      <p:sp>
        <p:nvSpPr>
          <p:cNvPr id="16" name="Text 14"/>
          <p:cNvSpPr/>
          <p:nvPr/>
        </p:nvSpPr>
        <p:spPr>
          <a:xfrm>
            <a:off x="3337560" y="2084832"/>
            <a:ext cx="2423160" cy="274320"/>
          </a:xfrm>
          <a:prstGeom prst="rect">
            <a:avLst/>
          </a:prstGeom>
          <a:noFill/>
          <a:ln/>
        </p:spPr>
        <p:txBody>
          <a:bodyPr wrap="square" rtlCol="0" anchor="ctr"/>
          <a:lstStyle/>
          <a:p>
            <a:pPr algn="ctr" indent="0" marL="0">
              <a:buNone/>
            </a:pPr>
            <a:r>
              <a:rPr lang="en-US" sz="1200" dirty="0">
                <a:solidFill>
                  <a:srgbClr val="CADCFC"/>
                </a:solidFill>
                <a:latin typeface="Arial" pitchFamily="34" charset="0"/>
                <a:ea typeface="Arial" pitchFamily="34" charset="-122"/>
                <a:cs typeface="Arial" pitchFamily="34" charset="-120"/>
              </a:rPr>
              <a:t>عميل</a:t>
            </a:r>
            <a:endParaRPr lang="en-US" sz="1200" dirty="0"/>
          </a:p>
        </p:txBody>
      </p:sp>
      <p:sp>
        <p:nvSpPr>
          <p:cNvPr id="17" name="Text 15"/>
          <p:cNvSpPr/>
          <p:nvPr/>
        </p:nvSpPr>
        <p:spPr>
          <a:xfrm>
            <a:off x="3337560" y="2377440"/>
            <a:ext cx="2423160" cy="384048"/>
          </a:xfrm>
          <a:prstGeom prst="rect">
            <a:avLst/>
          </a:prstGeom>
          <a:noFill/>
          <a:ln/>
        </p:spPr>
        <p:txBody>
          <a:bodyPr wrap="square" rtlCol="0" anchor="ctr"/>
          <a:lstStyle/>
          <a:p>
            <a:pPr algn="ctr" indent="0" marL="0">
              <a:buNone/>
            </a:pPr>
            <a:r>
              <a:rPr lang="en-US" sz="1200" b="1" dirty="0">
                <a:solidFill>
                  <a:srgbClr val="D4A843"/>
                </a:solidFill>
                <a:latin typeface="Arial" pitchFamily="34" charset="0"/>
                <a:ea typeface="Arial" pitchFamily="34" charset="-122"/>
                <a:cs typeface="Arial" pitchFamily="34" charset="-120"/>
              </a:rPr>
              <a:t>العملاء الجدد</a:t>
            </a:r>
            <a:endParaRPr lang="en-US" sz="1200" dirty="0"/>
          </a:p>
        </p:txBody>
      </p:sp>
      <p:sp>
        <p:nvSpPr>
          <p:cNvPr id="18" name="Shape 16"/>
          <p:cNvSpPr/>
          <p:nvPr/>
        </p:nvSpPr>
        <p:spPr>
          <a:xfrm>
            <a:off x="3749040" y="2926080"/>
            <a:ext cx="1600200" cy="329184"/>
          </a:xfrm>
          <a:prstGeom prst="rect">
            <a:avLst/>
          </a:prstGeom>
          <a:solidFill>
            <a:srgbClr val="D4A843"/>
          </a:solidFill>
          <a:ln w="12700">
            <a:solidFill>
              <a:srgbClr val="D4A843"/>
            </a:solidFill>
            <a:prstDash val="solid"/>
          </a:ln>
        </p:spPr>
      </p:sp>
      <p:sp>
        <p:nvSpPr>
          <p:cNvPr id="19" name="Text 17"/>
          <p:cNvSpPr/>
          <p:nvPr/>
        </p:nvSpPr>
        <p:spPr>
          <a:xfrm>
            <a:off x="3749040" y="2926080"/>
            <a:ext cx="1600200" cy="329184"/>
          </a:xfrm>
          <a:prstGeom prst="rect">
            <a:avLst/>
          </a:prstGeom>
          <a:noFill/>
          <a:ln/>
        </p:spPr>
        <p:txBody>
          <a:bodyPr wrap="square" rtlCol="0" anchor="ctr"/>
          <a:lstStyle/>
          <a:p>
            <a:pPr algn="ctr" indent="0" marL="0">
              <a:buNone/>
            </a:pPr>
            <a:r>
              <a:rPr lang="en-US" sz="1200" b="1" dirty="0">
                <a:solidFill>
                  <a:srgbClr val="1B2B5E"/>
                </a:solidFill>
                <a:latin typeface="Calibri" pitchFamily="34" charset="0"/>
                <a:ea typeface="Calibri" pitchFamily="34" charset="-122"/>
                <a:cs typeface="Calibri" pitchFamily="34" charset="-120"/>
              </a:rPr>
              <a:t>24% ↑</a:t>
            </a:r>
            <a:endParaRPr lang="en-US" sz="1200" dirty="0"/>
          </a:p>
        </p:txBody>
      </p:sp>
      <p:sp>
        <p:nvSpPr>
          <p:cNvPr id="20" name="Shape 18"/>
          <p:cNvSpPr/>
          <p:nvPr/>
        </p:nvSpPr>
        <p:spPr>
          <a:xfrm>
            <a:off x="6035040" y="1261872"/>
            <a:ext cx="2606040" cy="1737360"/>
          </a:xfrm>
          <a:prstGeom prst="rect">
            <a:avLst/>
          </a:prstGeom>
          <a:solidFill>
            <a:srgbClr val="7B3FA0"/>
          </a:solidFill>
          <a:ln w="12700">
            <a:solidFill>
              <a:srgbClr val="7B3FA0"/>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6035040" y="1261872"/>
            <a:ext cx="2606040" cy="54864"/>
          </a:xfrm>
          <a:prstGeom prst="rect">
            <a:avLst/>
          </a:prstGeom>
          <a:solidFill>
            <a:srgbClr val="D4A843"/>
          </a:solidFill>
          <a:ln w="12700">
            <a:solidFill>
              <a:srgbClr val="D4A843"/>
            </a:solidFill>
            <a:prstDash val="solid"/>
          </a:ln>
        </p:spPr>
      </p:sp>
      <p:sp>
        <p:nvSpPr>
          <p:cNvPr id="22" name="Text 20"/>
          <p:cNvSpPr/>
          <p:nvPr/>
        </p:nvSpPr>
        <p:spPr>
          <a:xfrm>
            <a:off x="6126480" y="1389888"/>
            <a:ext cx="2423160" cy="713232"/>
          </a:xfrm>
          <a:prstGeom prst="rect">
            <a:avLst/>
          </a:prstGeom>
          <a:noFill/>
          <a:ln/>
        </p:spPr>
        <p:txBody>
          <a:bodyPr wrap="square"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94%</a:t>
            </a:r>
            <a:endParaRPr lang="en-US" sz="3600" dirty="0"/>
          </a:p>
        </p:txBody>
      </p:sp>
      <p:sp>
        <p:nvSpPr>
          <p:cNvPr id="23" name="Text 21"/>
          <p:cNvSpPr/>
          <p:nvPr/>
        </p:nvSpPr>
        <p:spPr>
          <a:xfrm>
            <a:off x="6126480" y="2377440"/>
            <a:ext cx="2423160" cy="384048"/>
          </a:xfrm>
          <a:prstGeom prst="rect">
            <a:avLst/>
          </a:prstGeom>
          <a:noFill/>
          <a:ln/>
        </p:spPr>
        <p:txBody>
          <a:bodyPr wrap="square" rtlCol="0" anchor="ctr"/>
          <a:lstStyle/>
          <a:p>
            <a:pPr algn="ctr" indent="0" marL="0">
              <a:buNone/>
            </a:pPr>
            <a:r>
              <a:rPr lang="en-US" sz="1200" b="1" dirty="0">
                <a:solidFill>
                  <a:srgbClr val="D4A843"/>
                </a:solidFill>
                <a:latin typeface="Arial" pitchFamily="34" charset="0"/>
                <a:ea typeface="Arial" pitchFamily="34" charset="-122"/>
                <a:cs typeface="Arial" pitchFamily="34" charset="-120"/>
              </a:rPr>
              <a:t>رضا العملاء</a:t>
            </a:r>
            <a:endParaRPr lang="en-US" sz="1200" dirty="0"/>
          </a:p>
        </p:txBody>
      </p:sp>
      <p:sp>
        <p:nvSpPr>
          <p:cNvPr id="24" name="Shape 22"/>
          <p:cNvSpPr/>
          <p:nvPr/>
        </p:nvSpPr>
        <p:spPr>
          <a:xfrm>
            <a:off x="6537960" y="2926080"/>
            <a:ext cx="1600200" cy="329184"/>
          </a:xfrm>
          <a:prstGeom prst="rect">
            <a:avLst/>
          </a:prstGeom>
          <a:solidFill>
            <a:srgbClr val="D4A843"/>
          </a:solidFill>
          <a:ln w="12700">
            <a:solidFill>
              <a:srgbClr val="D4A843"/>
            </a:solidFill>
            <a:prstDash val="solid"/>
          </a:ln>
        </p:spPr>
      </p:sp>
      <p:sp>
        <p:nvSpPr>
          <p:cNvPr id="25" name="Text 23"/>
          <p:cNvSpPr/>
          <p:nvPr/>
        </p:nvSpPr>
        <p:spPr>
          <a:xfrm>
            <a:off x="6537960" y="2926080"/>
            <a:ext cx="1600200" cy="329184"/>
          </a:xfrm>
          <a:prstGeom prst="rect">
            <a:avLst/>
          </a:prstGeom>
          <a:noFill/>
          <a:ln/>
        </p:spPr>
        <p:txBody>
          <a:bodyPr wrap="square" rtlCol="0" anchor="ctr"/>
          <a:lstStyle/>
          <a:p>
            <a:pPr algn="ctr" indent="0" marL="0">
              <a:buNone/>
            </a:pPr>
            <a:r>
              <a:rPr lang="en-US" sz="1200" b="1" dirty="0">
                <a:solidFill>
                  <a:srgbClr val="1B2B5E"/>
                </a:solidFill>
                <a:latin typeface="Calibri" pitchFamily="34" charset="0"/>
                <a:ea typeface="Calibri" pitchFamily="34" charset="-122"/>
                <a:cs typeface="Calibri" pitchFamily="34" charset="-120"/>
              </a:rPr>
              <a:t>ممتاز</a:t>
            </a:r>
            <a:endParaRPr lang="en-US" sz="1200" dirty="0"/>
          </a:p>
        </p:txBody>
      </p:sp>
      <p:sp>
        <p:nvSpPr>
          <p:cNvPr id="26" name="Shape 24"/>
          <p:cNvSpPr/>
          <p:nvPr/>
        </p:nvSpPr>
        <p:spPr>
          <a:xfrm>
            <a:off x="365760" y="3401568"/>
            <a:ext cx="8412480" cy="1417320"/>
          </a:xfrm>
          <a:prstGeom prst="rect">
            <a:avLst/>
          </a:prstGeom>
          <a:solidFill>
            <a:srgbClr val="F5F7FC"/>
          </a:solidFill>
          <a:ln w="12700">
            <a:solidFill>
              <a:srgbClr val="C8D4EA"/>
            </a:solidFill>
            <a:prstDash val="solid"/>
          </a:ln>
        </p:spPr>
      </p:sp>
      <p:sp>
        <p:nvSpPr>
          <p:cNvPr id="27" name="Shape 25"/>
          <p:cNvSpPr/>
          <p:nvPr/>
        </p:nvSpPr>
        <p:spPr>
          <a:xfrm>
            <a:off x="8705088" y="3401568"/>
            <a:ext cx="64008" cy="1417320"/>
          </a:xfrm>
          <a:prstGeom prst="rect">
            <a:avLst/>
          </a:prstGeom>
          <a:solidFill>
            <a:srgbClr val="D4A843"/>
          </a:solidFill>
          <a:ln w="12700">
            <a:solidFill>
              <a:srgbClr val="D4A843"/>
            </a:solidFill>
            <a:prstDash val="solid"/>
          </a:ln>
        </p:spPr>
      </p:sp>
      <p:sp>
        <p:nvSpPr>
          <p:cNvPr id="28" name="Text 26"/>
          <p:cNvSpPr/>
          <p:nvPr/>
        </p:nvSpPr>
        <p:spPr>
          <a:xfrm>
            <a:off x="502920" y="3493008"/>
            <a:ext cx="8092440" cy="1234440"/>
          </a:xfrm>
          <a:prstGeom prst="rect">
            <a:avLst/>
          </a:prstGeom>
          <a:noFill/>
          <a:ln/>
        </p:spPr>
        <p:txBody>
          <a:bodyPr wrap="square" rtlCol="0" anchor="t"/>
          <a:lstStyle/>
          <a:p>
            <a:pPr rtl="1" algn="r" indent="0" marL="0">
              <a:buNone/>
            </a:pPr>
            <a:r>
              <a:rPr lang="en-US" sz="1200" dirty="0">
                <a:solidFill>
                  <a:srgbClr val="64748B"/>
                </a:solidFill>
                <a:latin typeface="Arial" pitchFamily="34" charset="0"/>
                <a:ea typeface="Arial" pitchFamily="34" charset="-122"/>
                <a:cs typeface="Arial" pitchFamily="34" charset="-120"/>
              </a:rPr>
              <a:t>حققت شركة النجاح للاستثمار خلال عام 2025 نتائج مالية وتشغيلية استثنائية، إذ ارتفعت الإيرادات بنسبة 18% مقارنةً بالعام السابق، وتوسّعت قاعدة العملاء بشكل ملحوظ، فيما حافظت الشركة على مستوى عالٍ من رضا العملاء يعكس جودة الخدمات المقدّمة. يعكس هذا الأداء المتميّز التزام الشركة بتحقيق أهدافها الاستراتيجية وتعزيز مكانتها التنافسية في السوق.</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B5E"/>
          </a:solidFill>
          <a:ln w="12700">
            <a:solidFill>
              <a:srgbClr val="1B2B5E"/>
            </a:solidFill>
            <a:prstDash val="solid"/>
          </a:ln>
        </p:spPr>
      </p:sp>
      <p:sp>
        <p:nvSpPr>
          <p:cNvPr id="3" name="Shape 1"/>
          <p:cNvSpPr/>
          <p:nvPr/>
        </p:nvSpPr>
        <p:spPr>
          <a:xfrm>
            <a:off x="0" y="0"/>
            <a:ext cx="9144000" cy="54864"/>
          </a:xfrm>
          <a:prstGeom prst="rect">
            <a:avLst/>
          </a:prstGeom>
          <a:solidFill>
            <a:srgbClr val="D4A843"/>
          </a:solidFill>
          <a:ln w="12700">
            <a:solidFill>
              <a:srgbClr val="D4A843"/>
            </a:solidFill>
            <a:prstDash val="solid"/>
          </a:ln>
        </p:spPr>
      </p:sp>
      <p:sp>
        <p:nvSpPr>
          <p:cNvPr id="4" name="Text 2"/>
          <p:cNvSpPr/>
          <p:nvPr/>
        </p:nvSpPr>
        <p:spPr>
          <a:xfrm>
            <a:off x="365760" y="137160"/>
            <a:ext cx="8412480" cy="548640"/>
          </a:xfrm>
          <a:prstGeom prst="rect">
            <a:avLst/>
          </a:prstGeom>
          <a:noFill/>
          <a:ln/>
        </p:spPr>
        <p:txBody>
          <a:bodyPr wrap="square" rtlCol="0" anchor="ctr"/>
          <a:lstStyle/>
          <a:p>
            <a:pPr algn="r" indent="0" marL="0">
              <a:buNone/>
            </a:pPr>
            <a:r>
              <a:rPr lang="en-US" sz="2800" b="1" dirty="0">
                <a:solidFill>
                  <a:srgbClr val="FFFFFF"/>
                </a:solidFill>
                <a:latin typeface="Arial" pitchFamily="34" charset="0"/>
                <a:ea typeface="Arial" pitchFamily="34" charset="-122"/>
                <a:cs typeface="Arial" pitchFamily="34" charset="-120"/>
              </a:rPr>
              <a:t>النتائج المالية</a:t>
            </a:r>
            <a:endParaRPr lang="en-US" sz="2800" dirty="0"/>
          </a:p>
        </p:txBody>
      </p:sp>
      <p:sp>
        <p:nvSpPr>
          <p:cNvPr id="5" name="Text 3"/>
          <p:cNvSpPr/>
          <p:nvPr/>
        </p:nvSpPr>
        <p:spPr>
          <a:xfrm>
            <a:off x="365760" y="640080"/>
            <a:ext cx="8412480" cy="256032"/>
          </a:xfrm>
          <a:prstGeom prst="rect">
            <a:avLst/>
          </a:prstGeom>
          <a:noFill/>
          <a:ln/>
        </p:spPr>
        <p:txBody>
          <a:bodyPr wrap="square" rtlCol="0" anchor="ctr"/>
          <a:lstStyle/>
          <a:p>
            <a:pPr algn="r" indent="0" marL="0">
              <a:buNone/>
            </a:pPr>
            <a:r>
              <a:rPr lang="en-US" sz="900" spc="400" kern="0" dirty="0">
                <a:solidFill>
                  <a:srgbClr val="8899BB"/>
                </a:solidFill>
                <a:latin typeface="Calibri" pitchFamily="34" charset="0"/>
                <a:ea typeface="Calibri" pitchFamily="34" charset="-122"/>
                <a:cs typeface="Calibri" pitchFamily="34" charset="-120"/>
              </a:rPr>
              <a:t>FINANCIAL RESULTS</a:t>
            </a:r>
            <a:endParaRPr lang="en-US" sz="900" dirty="0"/>
          </a:p>
        </p:txBody>
      </p:sp>
      <p:graphicFrame>
        <p:nvGraphicFramePr>
          <p:cNvPr id="6" name="Chart 0" descr=""/>
          <p:cNvGraphicFramePr/>
          <p:nvPr/>
        </p:nvGraphicFramePr>
        <p:xfrm>
          <a:off x="274320" y="1097280"/>
          <a:ext cx="566928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217920" y="1188720"/>
            <a:ext cx="2606040" cy="1005840"/>
          </a:xfrm>
          <a:prstGeom prst="rect">
            <a:avLst/>
          </a:prstGeom>
          <a:solidFill>
            <a:srgbClr val="FFFFFF"/>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8" name="Shape 5"/>
          <p:cNvSpPr/>
          <p:nvPr/>
        </p:nvSpPr>
        <p:spPr>
          <a:xfrm>
            <a:off x="8759952" y="1188720"/>
            <a:ext cx="64008" cy="1005840"/>
          </a:xfrm>
          <a:prstGeom prst="rect">
            <a:avLst/>
          </a:prstGeom>
          <a:solidFill>
            <a:srgbClr val="1B2B5E"/>
          </a:solidFill>
          <a:ln w="12700">
            <a:solidFill>
              <a:srgbClr val="1B2B5E"/>
            </a:solidFill>
            <a:prstDash val="solid"/>
          </a:ln>
        </p:spPr>
      </p:sp>
      <p:sp>
        <p:nvSpPr>
          <p:cNvPr id="9" name="Text 6"/>
          <p:cNvSpPr/>
          <p:nvPr/>
        </p:nvSpPr>
        <p:spPr>
          <a:xfrm>
            <a:off x="6263640" y="1243584"/>
            <a:ext cx="2468880" cy="502920"/>
          </a:xfrm>
          <a:prstGeom prst="rect">
            <a:avLst/>
          </a:prstGeom>
          <a:noFill/>
          <a:ln/>
        </p:spPr>
        <p:txBody>
          <a:bodyPr wrap="square" rtlCol="0" anchor="ctr"/>
          <a:lstStyle/>
          <a:p>
            <a:pPr algn="ctr" indent="0" marL="0">
              <a:buNone/>
            </a:pPr>
            <a:r>
              <a:rPr lang="en-US" sz="2800" b="1" dirty="0">
                <a:solidFill>
                  <a:srgbClr val="1B2B5E"/>
                </a:solidFill>
                <a:latin typeface="Arial" pitchFamily="34" charset="0"/>
                <a:ea typeface="Arial" pitchFamily="34" charset="-122"/>
                <a:cs typeface="Arial" pitchFamily="34" charset="-120"/>
              </a:rPr>
              <a:t>+18%</a:t>
            </a:r>
            <a:endParaRPr lang="en-US" sz="2800" dirty="0"/>
          </a:p>
        </p:txBody>
      </p:sp>
      <p:sp>
        <p:nvSpPr>
          <p:cNvPr id="10" name="Text 7"/>
          <p:cNvSpPr/>
          <p:nvPr/>
        </p:nvSpPr>
        <p:spPr>
          <a:xfrm>
            <a:off x="6263640" y="1755648"/>
            <a:ext cx="2468880" cy="347472"/>
          </a:xfrm>
          <a:prstGeom prst="rect">
            <a:avLst/>
          </a:prstGeom>
          <a:noFill/>
          <a:ln/>
        </p:spPr>
        <p:txBody>
          <a:bodyPr wrap="square"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نمو الإيرادات</a:t>
            </a:r>
            <a:endParaRPr lang="en-US" sz="1200" dirty="0"/>
          </a:p>
        </p:txBody>
      </p:sp>
      <p:sp>
        <p:nvSpPr>
          <p:cNvPr id="11" name="Shape 8"/>
          <p:cNvSpPr/>
          <p:nvPr/>
        </p:nvSpPr>
        <p:spPr>
          <a:xfrm>
            <a:off x="6217920" y="2423160"/>
            <a:ext cx="2606040" cy="1005840"/>
          </a:xfrm>
          <a:prstGeom prst="rect">
            <a:avLst/>
          </a:prstGeom>
          <a:solidFill>
            <a:srgbClr val="FFFFFF"/>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12" name="Shape 9"/>
          <p:cNvSpPr/>
          <p:nvPr/>
        </p:nvSpPr>
        <p:spPr>
          <a:xfrm>
            <a:off x="8759952" y="2423160"/>
            <a:ext cx="64008" cy="1005840"/>
          </a:xfrm>
          <a:prstGeom prst="rect">
            <a:avLst/>
          </a:prstGeom>
          <a:solidFill>
            <a:srgbClr val="0A6E5F"/>
          </a:solidFill>
          <a:ln w="12700">
            <a:solidFill>
              <a:srgbClr val="0A6E5F"/>
            </a:solidFill>
            <a:prstDash val="solid"/>
          </a:ln>
        </p:spPr>
      </p:sp>
      <p:sp>
        <p:nvSpPr>
          <p:cNvPr id="13" name="Text 10"/>
          <p:cNvSpPr/>
          <p:nvPr/>
        </p:nvSpPr>
        <p:spPr>
          <a:xfrm>
            <a:off x="6263640" y="2478024"/>
            <a:ext cx="2468880" cy="502920"/>
          </a:xfrm>
          <a:prstGeom prst="rect">
            <a:avLst/>
          </a:prstGeom>
          <a:noFill/>
          <a:ln/>
        </p:spPr>
        <p:txBody>
          <a:bodyPr wrap="square" rtlCol="0" anchor="ctr"/>
          <a:lstStyle/>
          <a:p>
            <a:pPr algn="ctr" indent="0" marL="0">
              <a:buNone/>
            </a:pPr>
            <a:r>
              <a:rPr lang="en-US" sz="2800" b="1" dirty="0">
                <a:solidFill>
                  <a:srgbClr val="0A6E5F"/>
                </a:solidFill>
                <a:latin typeface="Arial" pitchFamily="34" charset="0"/>
                <a:ea typeface="Arial" pitchFamily="34" charset="-122"/>
                <a:cs typeface="Arial" pitchFamily="34" charset="-120"/>
              </a:rPr>
              <a:t>+32%</a:t>
            </a:r>
            <a:endParaRPr lang="en-US" sz="2800" dirty="0"/>
          </a:p>
        </p:txBody>
      </p:sp>
      <p:sp>
        <p:nvSpPr>
          <p:cNvPr id="14" name="Text 11"/>
          <p:cNvSpPr/>
          <p:nvPr/>
        </p:nvSpPr>
        <p:spPr>
          <a:xfrm>
            <a:off x="6263640" y="2990088"/>
            <a:ext cx="2468880" cy="347472"/>
          </a:xfrm>
          <a:prstGeom prst="rect">
            <a:avLst/>
          </a:prstGeom>
          <a:noFill/>
          <a:ln/>
        </p:spPr>
        <p:txBody>
          <a:bodyPr wrap="square"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نمو الأرباح</a:t>
            </a:r>
            <a:endParaRPr lang="en-US" sz="1200" dirty="0"/>
          </a:p>
        </p:txBody>
      </p:sp>
      <p:sp>
        <p:nvSpPr>
          <p:cNvPr id="15" name="Shape 12"/>
          <p:cNvSpPr/>
          <p:nvPr/>
        </p:nvSpPr>
        <p:spPr>
          <a:xfrm>
            <a:off x="6217920" y="3657600"/>
            <a:ext cx="2606040" cy="1005840"/>
          </a:xfrm>
          <a:prstGeom prst="rect">
            <a:avLst/>
          </a:prstGeom>
          <a:solidFill>
            <a:srgbClr val="FFFFFF"/>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16" name="Shape 13"/>
          <p:cNvSpPr/>
          <p:nvPr/>
        </p:nvSpPr>
        <p:spPr>
          <a:xfrm>
            <a:off x="8759952" y="3657600"/>
            <a:ext cx="64008" cy="1005840"/>
          </a:xfrm>
          <a:prstGeom prst="rect">
            <a:avLst/>
          </a:prstGeom>
          <a:solidFill>
            <a:srgbClr val="B8891E"/>
          </a:solidFill>
          <a:ln w="12700">
            <a:solidFill>
              <a:srgbClr val="B8891E"/>
            </a:solidFill>
            <a:prstDash val="solid"/>
          </a:ln>
        </p:spPr>
      </p:sp>
      <p:sp>
        <p:nvSpPr>
          <p:cNvPr id="17" name="Text 14"/>
          <p:cNvSpPr/>
          <p:nvPr/>
        </p:nvSpPr>
        <p:spPr>
          <a:xfrm>
            <a:off x="6263640" y="3712464"/>
            <a:ext cx="2468880" cy="502920"/>
          </a:xfrm>
          <a:prstGeom prst="rect">
            <a:avLst/>
          </a:prstGeom>
          <a:noFill/>
          <a:ln/>
        </p:spPr>
        <p:txBody>
          <a:bodyPr wrap="square" rtlCol="0" anchor="ctr"/>
          <a:lstStyle/>
          <a:p>
            <a:pPr algn="ctr" indent="0" marL="0">
              <a:buNone/>
            </a:pPr>
            <a:r>
              <a:rPr lang="en-US" sz="2800" b="1" dirty="0">
                <a:solidFill>
                  <a:srgbClr val="B8891E"/>
                </a:solidFill>
                <a:latin typeface="Arial" pitchFamily="34" charset="0"/>
                <a:ea typeface="Arial" pitchFamily="34" charset="-122"/>
                <a:cs typeface="Arial" pitchFamily="34" charset="-120"/>
              </a:rPr>
              <a:t>29.6%</a:t>
            </a:r>
            <a:endParaRPr lang="en-US" sz="2800" dirty="0"/>
          </a:p>
        </p:txBody>
      </p:sp>
      <p:sp>
        <p:nvSpPr>
          <p:cNvPr id="18" name="Text 15"/>
          <p:cNvSpPr/>
          <p:nvPr/>
        </p:nvSpPr>
        <p:spPr>
          <a:xfrm>
            <a:off x="6263640" y="4224528"/>
            <a:ext cx="2468880" cy="347472"/>
          </a:xfrm>
          <a:prstGeom prst="rect">
            <a:avLst/>
          </a:prstGeom>
          <a:noFill/>
          <a:ln/>
        </p:spPr>
        <p:txBody>
          <a:bodyPr wrap="square"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هامش الربح</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B5E"/>
          </a:solidFill>
          <a:ln w="12700">
            <a:solidFill>
              <a:srgbClr val="1B2B5E"/>
            </a:solidFill>
            <a:prstDash val="solid"/>
          </a:ln>
        </p:spPr>
      </p:sp>
      <p:sp>
        <p:nvSpPr>
          <p:cNvPr id="3" name="Shape 1"/>
          <p:cNvSpPr/>
          <p:nvPr/>
        </p:nvSpPr>
        <p:spPr>
          <a:xfrm>
            <a:off x="0" y="0"/>
            <a:ext cx="9144000" cy="54864"/>
          </a:xfrm>
          <a:prstGeom prst="rect">
            <a:avLst/>
          </a:prstGeom>
          <a:solidFill>
            <a:srgbClr val="D4A843"/>
          </a:solidFill>
          <a:ln w="12700">
            <a:solidFill>
              <a:srgbClr val="D4A843"/>
            </a:solidFill>
            <a:prstDash val="solid"/>
          </a:ln>
        </p:spPr>
      </p:sp>
      <p:sp>
        <p:nvSpPr>
          <p:cNvPr id="4" name="Text 2"/>
          <p:cNvSpPr/>
          <p:nvPr/>
        </p:nvSpPr>
        <p:spPr>
          <a:xfrm>
            <a:off x="365760" y="137160"/>
            <a:ext cx="8412480" cy="548640"/>
          </a:xfrm>
          <a:prstGeom prst="rect">
            <a:avLst/>
          </a:prstGeom>
          <a:noFill/>
          <a:ln/>
        </p:spPr>
        <p:txBody>
          <a:bodyPr wrap="square" rtlCol="0" anchor="ctr"/>
          <a:lstStyle/>
          <a:p>
            <a:pPr algn="r" indent="0" marL="0">
              <a:buNone/>
            </a:pPr>
            <a:r>
              <a:rPr lang="en-US" sz="2800" b="1" dirty="0">
                <a:solidFill>
                  <a:srgbClr val="FFFFFF"/>
                </a:solidFill>
                <a:latin typeface="Arial" pitchFamily="34" charset="0"/>
                <a:ea typeface="Arial" pitchFamily="34" charset="-122"/>
                <a:cs typeface="Arial" pitchFamily="34" charset="-120"/>
              </a:rPr>
              <a:t>المبيعات والإيرادات</a:t>
            </a:r>
            <a:endParaRPr lang="en-US" sz="2800" dirty="0"/>
          </a:p>
        </p:txBody>
      </p:sp>
      <p:sp>
        <p:nvSpPr>
          <p:cNvPr id="5" name="Text 3"/>
          <p:cNvSpPr/>
          <p:nvPr/>
        </p:nvSpPr>
        <p:spPr>
          <a:xfrm>
            <a:off x="365760" y="640080"/>
            <a:ext cx="8412480" cy="256032"/>
          </a:xfrm>
          <a:prstGeom prst="rect">
            <a:avLst/>
          </a:prstGeom>
          <a:noFill/>
          <a:ln/>
        </p:spPr>
        <p:txBody>
          <a:bodyPr wrap="square" rtlCol="0" anchor="ctr"/>
          <a:lstStyle/>
          <a:p>
            <a:pPr algn="r" indent="0" marL="0">
              <a:buNone/>
            </a:pPr>
            <a:r>
              <a:rPr lang="en-US" sz="900" spc="400" kern="0" dirty="0">
                <a:solidFill>
                  <a:srgbClr val="8899BB"/>
                </a:solidFill>
                <a:latin typeface="Calibri" pitchFamily="34" charset="0"/>
                <a:ea typeface="Calibri" pitchFamily="34" charset="-122"/>
                <a:cs typeface="Calibri" pitchFamily="34" charset="-120"/>
              </a:rPr>
              <a:t>SALES &amp; REVENUE</a:t>
            </a:r>
            <a:endParaRPr lang="en-US" sz="900" dirty="0"/>
          </a:p>
        </p:txBody>
      </p:sp>
      <p:sp>
        <p:nvSpPr>
          <p:cNvPr id="6" name="Shape 4"/>
          <p:cNvSpPr/>
          <p:nvPr/>
        </p:nvSpPr>
        <p:spPr>
          <a:xfrm>
            <a:off x="274320" y="1115568"/>
            <a:ext cx="1993392" cy="1417320"/>
          </a:xfrm>
          <a:prstGeom prst="rect">
            <a:avLst/>
          </a:prstGeom>
          <a:solidFill>
            <a:srgbClr val="233D7A"/>
          </a:solidFill>
          <a:ln w="12700">
            <a:solidFill>
              <a:srgbClr val="233D7A"/>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1115568"/>
            <a:ext cx="1993392" cy="54864"/>
          </a:xfrm>
          <a:prstGeom prst="rect">
            <a:avLst/>
          </a:prstGeom>
          <a:solidFill>
            <a:srgbClr val="D4A843"/>
          </a:solidFill>
          <a:ln w="12700">
            <a:solidFill>
              <a:srgbClr val="D4A843"/>
            </a:solidFill>
            <a:prstDash val="solid"/>
          </a:ln>
        </p:spPr>
      </p:sp>
      <p:sp>
        <p:nvSpPr>
          <p:cNvPr id="8" name="Text 6"/>
          <p:cNvSpPr/>
          <p:nvPr/>
        </p:nvSpPr>
        <p:spPr>
          <a:xfrm>
            <a:off x="274320" y="1234440"/>
            <a:ext cx="1993392" cy="658368"/>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2.8M</a:t>
            </a:r>
            <a:endParaRPr lang="en-US" sz="2800" dirty="0"/>
          </a:p>
        </p:txBody>
      </p:sp>
      <p:sp>
        <p:nvSpPr>
          <p:cNvPr id="9" name="Text 7"/>
          <p:cNvSpPr/>
          <p:nvPr/>
        </p:nvSpPr>
        <p:spPr>
          <a:xfrm>
            <a:off x="274320" y="1865376"/>
            <a:ext cx="1993392" cy="274320"/>
          </a:xfrm>
          <a:prstGeom prst="rect">
            <a:avLst/>
          </a:prstGeom>
          <a:noFill/>
          <a:ln/>
        </p:spPr>
        <p:txBody>
          <a:bodyPr wrap="square" rtlCol="0" anchor="ctr"/>
          <a:lstStyle/>
          <a:p>
            <a:pPr algn="ctr" indent="0" marL="0">
              <a:buNone/>
            </a:pPr>
            <a:r>
              <a:rPr lang="en-US" sz="900" dirty="0">
                <a:solidFill>
                  <a:srgbClr val="CADCFC"/>
                </a:solidFill>
                <a:latin typeface="Arial" pitchFamily="34" charset="0"/>
                <a:ea typeface="Arial" pitchFamily="34" charset="-122"/>
                <a:cs typeface="Arial" pitchFamily="34" charset="-120"/>
              </a:rPr>
              <a:t>مليون ريال</a:t>
            </a:r>
            <a:endParaRPr lang="en-US" sz="900" dirty="0"/>
          </a:p>
        </p:txBody>
      </p:sp>
      <p:sp>
        <p:nvSpPr>
          <p:cNvPr id="10" name="Text 8"/>
          <p:cNvSpPr/>
          <p:nvPr/>
        </p:nvSpPr>
        <p:spPr>
          <a:xfrm>
            <a:off x="274320" y="2148840"/>
            <a:ext cx="1993392" cy="274320"/>
          </a:xfrm>
          <a:prstGeom prst="rect">
            <a:avLst/>
          </a:prstGeom>
          <a:noFill/>
          <a:ln/>
        </p:spPr>
        <p:txBody>
          <a:bodyPr wrap="square" rtlCol="0" anchor="ctr"/>
          <a:lstStyle/>
          <a:p>
            <a:pPr algn="ctr" indent="0" marL="0">
              <a:buNone/>
            </a:pPr>
            <a:r>
              <a:rPr lang="en-US" sz="1100" b="1" dirty="0">
                <a:solidFill>
                  <a:srgbClr val="D4A843"/>
                </a:solidFill>
                <a:latin typeface="Arial" pitchFamily="34" charset="0"/>
                <a:ea typeface="Arial" pitchFamily="34" charset="-122"/>
                <a:cs typeface="Arial" pitchFamily="34" charset="-120"/>
              </a:rPr>
              <a:t>الربع الأول</a:t>
            </a:r>
            <a:endParaRPr lang="en-US" sz="1100" dirty="0"/>
          </a:p>
        </p:txBody>
      </p:sp>
      <p:sp>
        <p:nvSpPr>
          <p:cNvPr id="11" name="Shape 9"/>
          <p:cNvSpPr/>
          <p:nvPr/>
        </p:nvSpPr>
        <p:spPr>
          <a:xfrm>
            <a:off x="2450592" y="1115568"/>
            <a:ext cx="1993392" cy="1417320"/>
          </a:xfrm>
          <a:prstGeom prst="rect">
            <a:avLst/>
          </a:prstGeom>
          <a:solidFill>
            <a:srgbClr val="1B2B5E"/>
          </a:solidFill>
          <a:ln w="12700">
            <a:solidFill>
              <a:srgbClr val="1B2B5E"/>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2450592" y="1115568"/>
            <a:ext cx="1993392" cy="54864"/>
          </a:xfrm>
          <a:prstGeom prst="rect">
            <a:avLst/>
          </a:prstGeom>
          <a:solidFill>
            <a:srgbClr val="D4A843"/>
          </a:solidFill>
          <a:ln w="12700">
            <a:solidFill>
              <a:srgbClr val="D4A843"/>
            </a:solidFill>
            <a:prstDash val="solid"/>
          </a:ln>
        </p:spPr>
      </p:sp>
      <p:sp>
        <p:nvSpPr>
          <p:cNvPr id="13" name="Text 11"/>
          <p:cNvSpPr/>
          <p:nvPr/>
        </p:nvSpPr>
        <p:spPr>
          <a:xfrm>
            <a:off x="2450592" y="1234440"/>
            <a:ext cx="1993392" cy="658368"/>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3.1M</a:t>
            </a:r>
            <a:endParaRPr lang="en-US" sz="2800" dirty="0"/>
          </a:p>
        </p:txBody>
      </p:sp>
      <p:sp>
        <p:nvSpPr>
          <p:cNvPr id="14" name="Text 12"/>
          <p:cNvSpPr/>
          <p:nvPr/>
        </p:nvSpPr>
        <p:spPr>
          <a:xfrm>
            <a:off x="2450592" y="1865376"/>
            <a:ext cx="1993392" cy="274320"/>
          </a:xfrm>
          <a:prstGeom prst="rect">
            <a:avLst/>
          </a:prstGeom>
          <a:noFill/>
          <a:ln/>
        </p:spPr>
        <p:txBody>
          <a:bodyPr wrap="square" rtlCol="0" anchor="ctr"/>
          <a:lstStyle/>
          <a:p>
            <a:pPr algn="ctr" indent="0" marL="0">
              <a:buNone/>
            </a:pPr>
            <a:r>
              <a:rPr lang="en-US" sz="900" dirty="0">
                <a:solidFill>
                  <a:srgbClr val="CADCFC"/>
                </a:solidFill>
                <a:latin typeface="Arial" pitchFamily="34" charset="0"/>
                <a:ea typeface="Arial" pitchFamily="34" charset="-122"/>
                <a:cs typeface="Arial" pitchFamily="34" charset="-120"/>
              </a:rPr>
              <a:t>مليون ريال</a:t>
            </a:r>
            <a:endParaRPr lang="en-US" sz="900" dirty="0"/>
          </a:p>
        </p:txBody>
      </p:sp>
      <p:sp>
        <p:nvSpPr>
          <p:cNvPr id="15" name="Text 13"/>
          <p:cNvSpPr/>
          <p:nvPr/>
        </p:nvSpPr>
        <p:spPr>
          <a:xfrm>
            <a:off x="2450592" y="2148840"/>
            <a:ext cx="1993392" cy="274320"/>
          </a:xfrm>
          <a:prstGeom prst="rect">
            <a:avLst/>
          </a:prstGeom>
          <a:noFill/>
          <a:ln/>
        </p:spPr>
        <p:txBody>
          <a:bodyPr wrap="square" rtlCol="0" anchor="ctr"/>
          <a:lstStyle/>
          <a:p>
            <a:pPr algn="ctr" indent="0" marL="0">
              <a:buNone/>
            </a:pPr>
            <a:r>
              <a:rPr lang="en-US" sz="1100" b="1" dirty="0">
                <a:solidFill>
                  <a:srgbClr val="D4A843"/>
                </a:solidFill>
                <a:latin typeface="Arial" pitchFamily="34" charset="0"/>
                <a:ea typeface="Arial" pitchFamily="34" charset="-122"/>
                <a:cs typeface="Arial" pitchFamily="34" charset="-120"/>
              </a:rPr>
              <a:t>الربع الثاني</a:t>
            </a:r>
            <a:endParaRPr lang="en-US" sz="1100" dirty="0"/>
          </a:p>
        </p:txBody>
      </p:sp>
      <p:sp>
        <p:nvSpPr>
          <p:cNvPr id="16" name="Shape 14"/>
          <p:cNvSpPr/>
          <p:nvPr/>
        </p:nvSpPr>
        <p:spPr>
          <a:xfrm>
            <a:off x="4626864" y="1115568"/>
            <a:ext cx="1993392" cy="1417320"/>
          </a:xfrm>
          <a:prstGeom prst="rect">
            <a:avLst/>
          </a:prstGeom>
          <a:solidFill>
            <a:srgbClr val="132050"/>
          </a:solidFill>
          <a:ln w="12700">
            <a:solidFill>
              <a:srgbClr val="132050"/>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4626864" y="1115568"/>
            <a:ext cx="1993392" cy="54864"/>
          </a:xfrm>
          <a:prstGeom prst="rect">
            <a:avLst/>
          </a:prstGeom>
          <a:solidFill>
            <a:srgbClr val="D4A843"/>
          </a:solidFill>
          <a:ln w="12700">
            <a:solidFill>
              <a:srgbClr val="D4A843"/>
            </a:solidFill>
            <a:prstDash val="solid"/>
          </a:ln>
        </p:spPr>
      </p:sp>
      <p:sp>
        <p:nvSpPr>
          <p:cNvPr id="18" name="Text 16"/>
          <p:cNvSpPr/>
          <p:nvPr/>
        </p:nvSpPr>
        <p:spPr>
          <a:xfrm>
            <a:off x="4626864" y="1234440"/>
            <a:ext cx="1993392" cy="658368"/>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3.2M</a:t>
            </a:r>
            <a:endParaRPr lang="en-US" sz="2800" dirty="0"/>
          </a:p>
        </p:txBody>
      </p:sp>
      <p:sp>
        <p:nvSpPr>
          <p:cNvPr id="19" name="Text 17"/>
          <p:cNvSpPr/>
          <p:nvPr/>
        </p:nvSpPr>
        <p:spPr>
          <a:xfrm>
            <a:off x="4626864" y="1865376"/>
            <a:ext cx="1993392" cy="274320"/>
          </a:xfrm>
          <a:prstGeom prst="rect">
            <a:avLst/>
          </a:prstGeom>
          <a:noFill/>
          <a:ln/>
        </p:spPr>
        <p:txBody>
          <a:bodyPr wrap="square" rtlCol="0" anchor="ctr"/>
          <a:lstStyle/>
          <a:p>
            <a:pPr algn="ctr" indent="0" marL="0">
              <a:buNone/>
            </a:pPr>
            <a:r>
              <a:rPr lang="en-US" sz="900" dirty="0">
                <a:solidFill>
                  <a:srgbClr val="CADCFC"/>
                </a:solidFill>
                <a:latin typeface="Arial" pitchFamily="34" charset="0"/>
                <a:ea typeface="Arial" pitchFamily="34" charset="-122"/>
                <a:cs typeface="Arial" pitchFamily="34" charset="-120"/>
              </a:rPr>
              <a:t>مليون ريال</a:t>
            </a:r>
            <a:endParaRPr lang="en-US" sz="900" dirty="0"/>
          </a:p>
        </p:txBody>
      </p:sp>
      <p:sp>
        <p:nvSpPr>
          <p:cNvPr id="20" name="Text 18"/>
          <p:cNvSpPr/>
          <p:nvPr/>
        </p:nvSpPr>
        <p:spPr>
          <a:xfrm>
            <a:off x="4626864" y="2148840"/>
            <a:ext cx="1993392" cy="274320"/>
          </a:xfrm>
          <a:prstGeom prst="rect">
            <a:avLst/>
          </a:prstGeom>
          <a:noFill/>
          <a:ln/>
        </p:spPr>
        <p:txBody>
          <a:bodyPr wrap="square" rtlCol="0" anchor="ctr"/>
          <a:lstStyle/>
          <a:p>
            <a:pPr algn="ctr" indent="0" marL="0">
              <a:buNone/>
            </a:pPr>
            <a:r>
              <a:rPr lang="en-US" sz="1100" b="1" dirty="0">
                <a:solidFill>
                  <a:srgbClr val="D4A843"/>
                </a:solidFill>
                <a:latin typeface="Arial" pitchFamily="34" charset="0"/>
                <a:ea typeface="Arial" pitchFamily="34" charset="-122"/>
                <a:cs typeface="Arial" pitchFamily="34" charset="-120"/>
              </a:rPr>
              <a:t>الربع الثالث</a:t>
            </a:r>
            <a:endParaRPr lang="en-US" sz="1100" dirty="0"/>
          </a:p>
        </p:txBody>
      </p:sp>
      <p:sp>
        <p:nvSpPr>
          <p:cNvPr id="21" name="Shape 19"/>
          <p:cNvSpPr/>
          <p:nvPr/>
        </p:nvSpPr>
        <p:spPr>
          <a:xfrm>
            <a:off x="6803136" y="1115568"/>
            <a:ext cx="1993392" cy="1417320"/>
          </a:xfrm>
          <a:prstGeom prst="rect">
            <a:avLst/>
          </a:prstGeom>
          <a:solidFill>
            <a:srgbClr val="0F1A3A"/>
          </a:solidFill>
          <a:ln w="12700">
            <a:solidFill>
              <a:srgbClr val="0F1A3A"/>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6803136" y="1115568"/>
            <a:ext cx="1993392" cy="54864"/>
          </a:xfrm>
          <a:prstGeom prst="rect">
            <a:avLst/>
          </a:prstGeom>
          <a:solidFill>
            <a:srgbClr val="D4A843"/>
          </a:solidFill>
          <a:ln w="12700">
            <a:solidFill>
              <a:srgbClr val="D4A843"/>
            </a:solidFill>
            <a:prstDash val="solid"/>
          </a:ln>
        </p:spPr>
      </p:sp>
      <p:sp>
        <p:nvSpPr>
          <p:cNvPr id="23" name="Text 21"/>
          <p:cNvSpPr/>
          <p:nvPr/>
        </p:nvSpPr>
        <p:spPr>
          <a:xfrm>
            <a:off x="6803136" y="1234440"/>
            <a:ext cx="1993392" cy="658368"/>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3.4M</a:t>
            </a:r>
            <a:endParaRPr lang="en-US" sz="2800" dirty="0"/>
          </a:p>
        </p:txBody>
      </p:sp>
      <p:sp>
        <p:nvSpPr>
          <p:cNvPr id="24" name="Text 22"/>
          <p:cNvSpPr/>
          <p:nvPr/>
        </p:nvSpPr>
        <p:spPr>
          <a:xfrm>
            <a:off x="6803136" y="1865376"/>
            <a:ext cx="1993392" cy="274320"/>
          </a:xfrm>
          <a:prstGeom prst="rect">
            <a:avLst/>
          </a:prstGeom>
          <a:noFill/>
          <a:ln/>
        </p:spPr>
        <p:txBody>
          <a:bodyPr wrap="square" rtlCol="0" anchor="ctr"/>
          <a:lstStyle/>
          <a:p>
            <a:pPr algn="ctr" indent="0" marL="0">
              <a:buNone/>
            </a:pPr>
            <a:r>
              <a:rPr lang="en-US" sz="900" dirty="0">
                <a:solidFill>
                  <a:srgbClr val="CADCFC"/>
                </a:solidFill>
                <a:latin typeface="Arial" pitchFamily="34" charset="0"/>
                <a:ea typeface="Arial" pitchFamily="34" charset="-122"/>
                <a:cs typeface="Arial" pitchFamily="34" charset="-120"/>
              </a:rPr>
              <a:t>مليون ريال</a:t>
            </a:r>
            <a:endParaRPr lang="en-US" sz="900" dirty="0"/>
          </a:p>
        </p:txBody>
      </p:sp>
      <p:sp>
        <p:nvSpPr>
          <p:cNvPr id="25" name="Text 23"/>
          <p:cNvSpPr/>
          <p:nvPr/>
        </p:nvSpPr>
        <p:spPr>
          <a:xfrm>
            <a:off x="6803136" y="2148840"/>
            <a:ext cx="1993392" cy="274320"/>
          </a:xfrm>
          <a:prstGeom prst="rect">
            <a:avLst/>
          </a:prstGeom>
          <a:noFill/>
          <a:ln/>
        </p:spPr>
        <p:txBody>
          <a:bodyPr wrap="square" rtlCol="0" anchor="ctr"/>
          <a:lstStyle/>
          <a:p>
            <a:pPr algn="ctr" indent="0" marL="0">
              <a:buNone/>
            </a:pPr>
            <a:r>
              <a:rPr lang="en-US" sz="1100" b="1" dirty="0">
                <a:solidFill>
                  <a:srgbClr val="D4A843"/>
                </a:solidFill>
                <a:latin typeface="Arial" pitchFamily="34" charset="0"/>
                <a:ea typeface="Arial" pitchFamily="34" charset="-122"/>
                <a:cs typeface="Arial" pitchFamily="34" charset="-120"/>
              </a:rPr>
              <a:t>الربع الرابع</a:t>
            </a:r>
            <a:endParaRPr lang="en-US" sz="1100" dirty="0"/>
          </a:p>
        </p:txBody>
      </p:sp>
      <p:graphicFrame>
        <p:nvGraphicFramePr>
          <p:cNvPr id="26" name="Chart 0" descr=""/>
          <p:cNvGraphicFramePr/>
          <p:nvPr/>
        </p:nvGraphicFramePr>
        <p:xfrm>
          <a:off x="274320" y="2606040"/>
          <a:ext cx="5303520" cy="2240280"/>
        </p:xfrm>
        <a:graphic xmlns:a="http://schemas.openxmlformats.org/drawingml/2006/main">
          <a:graphicData uri="http://schemas.openxmlformats.org/drawingml/2006/chart">
            <c:chart xmlns:c="http://schemas.openxmlformats.org/drawingml/2006/chart" r:id="rId1"/>
          </a:graphicData>
        </a:graphic>
      </p:graphicFrame>
      <p:sp>
        <p:nvSpPr>
          <p:cNvPr id="27" name="Text 24"/>
          <p:cNvSpPr/>
          <p:nvPr/>
        </p:nvSpPr>
        <p:spPr>
          <a:xfrm>
            <a:off x="5760720" y="2606040"/>
            <a:ext cx="3108960" cy="384048"/>
          </a:xfrm>
          <a:prstGeom prst="rect">
            <a:avLst/>
          </a:prstGeom>
          <a:noFill/>
          <a:ln/>
        </p:spPr>
        <p:txBody>
          <a:bodyPr wrap="square" rtlCol="0" anchor="ctr"/>
          <a:lstStyle/>
          <a:p>
            <a:pPr algn="r" indent="0" marL="0">
              <a:buNone/>
            </a:pPr>
            <a:r>
              <a:rPr lang="en-US" sz="1300" b="1" dirty="0">
                <a:solidFill>
                  <a:srgbClr val="1B2B5E"/>
                </a:solidFill>
                <a:latin typeface="Arial" pitchFamily="34" charset="0"/>
                <a:ea typeface="Arial" pitchFamily="34" charset="-122"/>
                <a:cs typeface="Arial" pitchFamily="34" charset="-120"/>
              </a:rPr>
              <a:t>أبرز المنتجات والخدمات</a:t>
            </a:r>
            <a:endParaRPr lang="en-US" sz="1300" dirty="0"/>
          </a:p>
        </p:txBody>
      </p:sp>
      <p:sp>
        <p:nvSpPr>
          <p:cNvPr id="28" name="Shape 25"/>
          <p:cNvSpPr/>
          <p:nvPr/>
        </p:nvSpPr>
        <p:spPr>
          <a:xfrm>
            <a:off x="5760720" y="3017520"/>
            <a:ext cx="3108960" cy="0"/>
          </a:xfrm>
          <a:prstGeom prst="line">
            <a:avLst/>
          </a:prstGeom>
          <a:noFill/>
          <a:ln w="19050">
            <a:solidFill>
              <a:srgbClr val="D4A843"/>
            </a:solidFill>
            <a:prstDash val="solid"/>
          </a:ln>
        </p:spPr>
      </p:sp>
      <p:sp>
        <p:nvSpPr>
          <p:cNvPr id="29" name="Shape 26"/>
          <p:cNvSpPr/>
          <p:nvPr/>
        </p:nvSpPr>
        <p:spPr>
          <a:xfrm>
            <a:off x="5760720" y="3090672"/>
            <a:ext cx="3108960" cy="402336"/>
          </a:xfrm>
          <a:prstGeom prst="rect">
            <a:avLst/>
          </a:prstGeom>
          <a:solidFill>
            <a:srgbClr val="F5F7FC"/>
          </a:solidFill>
          <a:ln w="9525">
            <a:solidFill>
              <a:srgbClr val="C8D4EA"/>
            </a:solidFill>
            <a:prstDash val="solid"/>
          </a:ln>
        </p:spPr>
      </p:sp>
      <p:sp>
        <p:nvSpPr>
          <p:cNvPr id="30" name="Text 27"/>
          <p:cNvSpPr/>
          <p:nvPr/>
        </p:nvSpPr>
        <p:spPr>
          <a:xfrm>
            <a:off x="5806440" y="3136392"/>
            <a:ext cx="2057400" cy="310896"/>
          </a:xfrm>
          <a:prstGeom prst="rect">
            <a:avLst/>
          </a:prstGeom>
          <a:noFill/>
          <a:ln/>
        </p:spPr>
        <p:txBody>
          <a:bodyPr wrap="square" rtlCol="0" anchor="ctr"/>
          <a:lstStyle/>
          <a:p>
            <a:pPr algn="r" indent="0" marL="0">
              <a:buNone/>
            </a:pPr>
            <a:r>
              <a:rPr lang="en-US" sz="1100" dirty="0">
                <a:solidFill>
                  <a:srgbClr val="1B2B5E"/>
                </a:solidFill>
                <a:latin typeface="Arial" pitchFamily="34" charset="0"/>
                <a:ea typeface="Arial" pitchFamily="34" charset="-122"/>
                <a:cs typeface="Arial" pitchFamily="34" charset="-120"/>
              </a:rPr>
              <a:t>استشارات الأعمال</a:t>
            </a:r>
            <a:endParaRPr lang="en-US" sz="1100" dirty="0"/>
          </a:p>
        </p:txBody>
      </p:sp>
      <p:sp>
        <p:nvSpPr>
          <p:cNvPr id="31" name="Text 28"/>
          <p:cNvSpPr/>
          <p:nvPr/>
        </p:nvSpPr>
        <p:spPr>
          <a:xfrm>
            <a:off x="7909560" y="3136392"/>
            <a:ext cx="868680" cy="310896"/>
          </a:xfrm>
          <a:prstGeom prst="rect">
            <a:avLst/>
          </a:prstGeom>
          <a:noFill/>
          <a:ln/>
        </p:spPr>
        <p:txBody>
          <a:bodyPr wrap="square" rtlCol="0" anchor="ctr"/>
          <a:lstStyle/>
          <a:p>
            <a:pPr algn="ctr" indent="0" marL="0">
              <a:buNone/>
            </a:pPr>
            <a:r>
              <a:rPr lang="en-US" sz="1100" b="1" dirty="0">
                <a:solidFill>
                  <a:srgbClr val="B8891E"/>
                </a:solidFill>
                <a:latin typeface="Calibri" pitchFamily="34" charset="0"/>
                <a:ea typeface="Calibri" pitchFamily="34" charset="-122"/>
                <a:cs typeface="Calibri" pitchFamily="34" charset="-120"/>
              </a:rPr>
              <a:t>4.8M</a:t>
            </a:r>
            <a:endParaRPr lang="en-US" sz="1100" dirty="0"/>
          </a:p>
        </p:txBody>
      </p:sp>
      <p:sp>
        <p:nvSpPr>
          <p:cNvPr id="32" name="Shape 29"/>
          <p:cNvSpPr/>
          <p:nvPr/>
        </p:nvSpPr>
        <p:spPr>
          <a:xfrm>
            <a:off x="5760720" y="3529584"/>
            <a:ext cx="3108960" cy="402336"/>
          </a:xfrm>
          <a:prstGeom prst="rect">
            <a:avLst/>
          </a:prstGeom>
          <a:solidFill>
            <a:srgbClr val="FFFFFF"/>
          </a:solidFill>
          <a:ln w="9525">
            <a:solidFill>
              <a:srgbClr val="C8D4EA"/>
            </a:solidFill>
            <a:prstDash val="solid"/>
          </a:ln>
        </p:spPr>
      </p:sp>
      <p:sp>
        <p:nvSpPr>
          <p:cNvPr id="33" name="Text 30"/>
          <p:cNvSpPr/>
          <p:nvPr/>
        </p:nvSpPr>
        <p:spPr>
          <a:xfrm>
            <a:off x="5806440" y="3575304"/>
            <a:ext cx="2057400" cy="310896"/>
          </a:xfrm>
          <a:prstGeom prst="rect">
            <a:avLst/>
          </a:prstGeom>
          <a:noFill/>
          <a:ln/>
        </p:spPr>
        <p:txBody>
          <a:bodyPr wrap="square" rtlCol="0" anchor="ctr"/>
          <a:lstStyle/>
          <a:p>
            <a:pPr algn="r" indent="0" marL="0">
              <a:buNone/>
            </a:pPr>
            <a:r>
              <a:rPr lang="en-US" sz="1100" dirty="0">
                <a:solidFill>
                  <a:srgbClr val="1B2B5E"/>
                </a:solidFill>
                <a:latin typeface="Arial" pitchFamily="34" charset="0"/>
                <a:ea typeface="Arial" pitchFamily="34" charset="-122"/>
                <a:cs typeface="Arial" pitchFamily="34" charset="-120"/>
              </a:rPr>
              <a:t>الحلول التقنية</a:t>
            </a:r>
            <a:endParaRPr lang="en-US" sz="1100" dirty="0"/>
          </a:p>
        </p:txBody>
      </p:sp>
      <p:sp>
        <p:nvSpPr>
          <p:cNvPr id="34" name="Text 31"/>
          <p:cNvSpPr/>
          <p:nvPr/>
        </p:nvSpPr>
        <p:spPr>
          <a:xfrm>
            <a:off x="7909560" y="3575304"/>
            <a:ext cx="868680" cy="310896"/>
          </a:xfrm>
          <a:prstGeom prst="rect">
            <a:avLst/>
          </a:prstGeom>
          <a:noFill/>
          <a:ln/>
        </p:spPr>
        <p:txBody>
          <a:bodyPr wrap="square" rtlCol="0" anchor="ctr"/>
          <a:lstStyle/>
          <a:p>
            <a:pPr algn="ctr" indent="0" marL="0">
              <a:buNone/>
            </a:pPr>
            <a:r>
              <a:rPr lang="en-US" sz="1100" b="1" dirty="0">
                <a:solidFill>
                  <a:srgbClr val="B8891E"/>
                </a:solidFill>
                <a:latin typeface="Calibri" pitchFamily="34" charset="0"/>
                <a:ea typeface="Calibri" pitchFamily="34" charset="-122"/>
                <a:cs typeface="Calibri" pitchFamily="34" charset="-120"/>
              </a:rPr>
              <a:t>3.9M</a:t>
            </a:r>
            <a:endParaRPr lang="en-US" sz="1100" dirty="0"/>
          </a:p>
        </p:txBody>
      </p:sp>
      <p:sp>
        <p:nvSpPr>
          <p:cNvPr id="35" name="Shape 32"/>
          <p:cNvSpPr/>
          <p:nvPr/>
        </p:nvSpPr>
        <p:spPr>
          <a:xfrm>
            <a:off x="5760720" y="3968496"/>
            <a:ext cx="3108960" cy="402336"/>
          </a:xfrm>
          <a:prstGeom prst="rect">
            <a:avLst/>
          </a:prstGeom>
          <a:solidFill>
            <a:srgbClr val="F5F7FC"/>
          </a:solidFill>
          <a:ln w="9525">
            <a:solidFill>
              <a:srgbClr val="C8D4EA"/>
            </a:solidFill>
            <a:prstDash val="solid"/>
          </a:ln>
        </p:spPr>
      </p:sp>
      <p:sp>
        <p:nvSpPr>
          <p:cNvPr id="36" name="Text 33"/>
          <p:cNvSpPr/>
          <p:nvPr/>
        </p:nvSpPr>
        <p:spPr>
          <a:xfrm>
            <a:off x="5806440" y="4014216"/>
            <a:ext cx="2057400" cy="310896"/>
          </a:xfrm>
          <a:prstGeom prst="rect">
            <a:avLst/>
          </a:prstGeom>
          <a:noFill/>
          <a:ln/>
        </p:spPr>
        <p:txBody>
          <a:bodyPr wrap="square" rtlCol="0" anchor="ctr"/>
          <a:lstStyle/>
          <a:p>
            <a:pPr algn="r" indent="0" marL="0">
              <a:buNone/>
            </a:pPr>
            <a:r>
              <a:rPr lang="en-US" sz="1100" dirty="0">
                <a:solidFill>
                  <a:srgbClr val="1B2B5E"/>
                </a:solidFill>
                <a:latin typeface="Arial" pitchFamily="34" charset="0"/>
                <a:ea typeface="Arial" pitchFamily="34" charset="-122"/>
                <a:cs typeface="Arial" pitchFamily="34" charset="-120"/>
              </a:rPr>
              <a:t>الخدمات اللوجستية</a:t>
            </a:r>
            <a:endParaRPr lang="en-US" sz="1100" dirty="0"/>
          </a:p>
        </p:txBody>
      </p:sp>
      <p:sp>
        <p:nvSpPr>
          <p:cNvPr id="37" name="Text 34"/>
          <p:cNvSpPr/>
          <p:nvPr/>
        </p:nvSpPr>
        <p:spPr>
          <a:xfrm>
            <a:off x="7909560" y="4014216"/>
            <a:ext cx="868680" cy="310896"/>
          </a:xfrm>
          <a:prstGeom prst="rect">
            <a:avLst/>
          </a:prstGeom>
          <a:noFill/>
          <a:ln/>
        </p:spPr>
        <p:txBody>
          <a:bodyPr wrap="square" rtlCol="0" anchor="ctr"/>
          <a:lstStyle/>
          <a:p>
            <a:pPr algn="ctr" indent="0" marL="0">
              <a:buNone/>
            </a:pPr>
            <a:r>
              <a:rPr lang="en-US" sz="1100" b="1" dirty="0">
                <a:solidFill>
                  <a:srgbClr val="B8891E"/>
                </a:solidFill>
                <a:latin typeface="Calibri" pitchFamily="34" charset="0"/>
                <a:ea typeface="Calibri" pitchFamily="34" charset="-122"/>
                <a:cs typeface="Calibri" pitchFamily="34" charset="-120"/>
              </a:rPr>
              <a:t>2.5M</a:t>
            </a:r>
            <a:endParaRPr lang="en-US" sz="1100" dirty="0"/>
          </a:p>
        </p:txBody>
      </p:sp>
      <p:sp>
        <p:nvSpPr>
          <p:cNvPr id="38" name="Shape 35"/>
          <p:cNvSpPr/>
          <p:nvPr/>
        </p:nvSpPr>
        <p:spPr>
          <a:xfrm>
            <a:off x="5760720" y="4407408"/>
            <a:ext cx="3108960" cy="402336"/>
          </a:xfrm>
          <a:prstGeom prst="rect">
            <a:avLst/>
          </a:prstGeom>
          <a:solidFill>
            <a:srgbClr val="FFFFFF"/>
          </a:solidFill>
          <a:ln w="9525">
            <a:solidFill>
              <a:srgbClr val="C8D4EA"/>
            </a:solidFill>
            <a:prstDash val="solid"/>
          </a:ln>
        </p:spPr>
      </p:sp>
      <p:sp>
        <p:nvSpPr>
          <p:cNvPr id="39" name="Text 36"/>
          <p:cNvSpPr/>
          <p:nvPr/>
        </p:nvSpPr>
        <p:spPr>
          <a:xfrm>
            <a:off x="5806440" y="4453128"/>
            <a:ext cx="2057400" cy="310896"/>
          </a:xfrm>
          <a:prstGeom prst="rect">
            <a:avLst/>
          </a:prstGeom>
          <a:noFill/>
          <a:ln/>
        </p:spPr>
        <p:txBody>
          <a:bodyPr wrap="square" rtlCol="0" anchor="ctr"/>
          <a:lstStyle/>
          <a:p>
            <a:pPr algn="r" indent="0" marL="0">
              <a:buNone/>
            </a:pPr>
            <a:r>
              <a:rPr lang="en-US" sz="1100" dirty="0">
                <a:solidFill>
                  <a:srgbClr val="1B2B5E"/>
                </a:solidFill>
                <a:latin typeface="Arial" pitchFamily="34" charset="0"/>
                <a:ea typeface="Arial" pitchFamily="34" charset="-122"/>
                <a:cs typeface="Arial" pitchFamily="34" charset="-120"/>
              </a:rPr>
              <a:t>التدريب والتطوير</a:t>
            </a:r>
            <a:endParaRPr lang="en-US" sz="1100" dirty="0"/>
          </a:p>
        </p:txBody>
      </p:sp>
      <p:sp>
        <p:nvSpPr>
          <p:cNvPr id="40" name="Text 37"/>
          <p:cNvSpPr/>
          <p:nvPr/>
        </p:nvSpPr>
        <p:spPr>
          <a:xfrm>
            <a:off x="7909560" y="4453128"/>
            <a:ext cx="868680" cy="310896"/>
          </a:xfrm>
          <a:prstGeom prst="rect">
            <a:avLst/>
          </a:prstGeom>
          <a:noFill/>
          <a:ln/>
        </p:spPr>
        <p:txBody>
          <a:bodyPr wrap="square" rtlCol="0" anchor="ctr"/>
          <a:lstStyle/>
          <a:p>
            <a:pPr algn="ctr" indent="0" marL="0">
              <a:buNone/>
            </a:pPr>
            <a:r>
              <a:rPr lang="en-US" sz="1100" b="1" dirty="0">
                <a:solidFill>
                  <a:srgbClr val="B8891E"/>
                </a:solidFill>
                <a:latin typeface="Calibri" pitchFamily="34" charset="0"/>
                <a:ea typeface="Calibri" pitchFamily="34" charset="-122"/>
                <a:cs typeface="Calibri" pitchFamily="34" charset="-120"/>
              </a:rPr>
              <a:t>1.3M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B5E"/>
          </a:solidFill>
          <a:ln w="12700">
            <a:solidFill>
              <a:srgbClr val="1B2B5E"/>
            </a:solidFill>
            <a:prstDash val="solid"/>
          </a:ln>
        </p:spPr>
      </p:sp>
      <p:sp>
        <p:nvSpPr>
          <p:cNvPr id="3" name="Shape 1"/>
          <p:cNvSpPr/>
          <p:nvPr/>
        </p:nvSpPr>
        <p:spPr>
          <a:xfrm>
            <a:off x="0" y="0"/>
            <a:ext cx="9144000" cy="54864"/>
          </a:xfrm>
          <a:prstGeom prst="rect">
            <a:avLst/>
          </a:prstGeom>
          <a:solidFill>
            <a:srgbClr val="D4A843"/>
          </a:solidFill>
          <a:ln w="12700">
            <a:solidFill>
              <a:srgbClr val="D4A843"/>
            </a:solidFill>
            <a:prstDash val="solid"/>
          </a:ln>
        </p:spPr>
      </p:sp>
      <p:sp>
        <p:nvSpPr>
          <p:cNvPr id="4" name="Text 2"/>
          <p:cNvSpPr/>
          <p:nvPr/>
        </p:nvSpPr>
        <p:spPr>
          <a:xfrm>
            <a:off x="365760" y="137160"/>
            <a:ext cx="8412480" cy="548640"/>
          </a:xfrm>
          <a:prstGeom prst="rect">
            <a:avLst/>
          </a:prstGeom>
          <a:noFill/>
          <a:ln/>
        </p:spPr>
        <p:txBody>
          <a:bodyPr wrap="square" rtlCol="0" anchor="ctr"/>
          <a:lstStyle/>
          <a:p>
            <a:pPr algn="r" indent="0" marL="0">
              <a:buNone/>
            </a:pPr>
            <a:r>
              <a:rPr lang="en-US" sz="2800" b="1" dirty="0">
                <a:solidFill>
                  <a:srgbClr val="FFFFFF"/>
                </a:solidFill>
                <a:latin typeface="Arial" pitchFamily="34" charset="0"/>
                <a:ea typeface="Arial" pitchFamily="34" charset="-122"/>
                <a:cs typeface="Arial" pitchFamily="34" charset="-120"/>
              </a:rPr>
              <a:t>المشاريع الرئيسية</a:t>
            </a:r>
            <a:endParaRPr lang="en-US" sz="2800" dirty="0"/>
          </a:p>
        </p:txBody>
      </p:sp>
      <p:sp>
        <p:nvSpPr>
          <p:cNvPr id="5" name="Text 3"/>
          <p:cNvSpPr/>
          <p:nvPr/>
        </p:nvSpPr>
        <p:spPr>
          <a:xfrm>
            <a:off x="365760" y="640080"/>
            <a:ext cx="8412480" cy="256032"/>
          </a:xfrm>
          <a:prstGeom prst="rect">
            <a:avLst/>
          </a:prstGeom>
          <a:noFill/>
          <a:ln/>
        </p:spPr>
        <p:txBody>
          <a:bodyPr wrap="square" rtlCol="0" anchor="ctr"/>
          <a:lstStyle/>
          <a:p>
            <a:pPr algn="r" indent="0" marL="0">
              <a:buNone/>
            </a:pPr>
            <a:r>
              <a:rPr lang="en-US" sz="900" spc="400" kern="0" dirty="0">
                <a:solidFill>
                  <a:srgbClr val="8899BB"/>
                </a:solidFill>
                <a:latin typeface="Calibri" pitchFamily="34" charset="0"/>
                <a:ea typeface="Calibri" pitchFamily="34" charset="-122"/>
                <a:cs typeface="Calibri" pitchFamily="34" charset="-120"/>
              </a:rPr>
              <a:t>KEY PROJECTS</a:t>
            </a:r>
            <a:endParaRPr lang="en-US" sz="900" dirty="0"/>
          </a:p>
        </p:txBody>
      </p:sp>
      <p:sp>
        <p:nvSpPr>
          <p:cNvPr id="6" name="Shape 4"/>
          <p:cNvSpPr/>
          <p:nvPr/>
        </p:nvSpPr>
        <p:spPr>
          <a:xfrm>
            <a:off x="365760" y="1115568"/>
            <a:ext cx="8412480" cy="1143000"/>
          </a:xfrm>
          <a:prstGeom prst="rect">
            <a:avLst/>
          </a:prstGeom>
          <a:solidFill>
            <a:srgbClr val="FFFFFF"/>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8714232" y="1115568"/>
            <a:ext cx="64008" cy="1143000"/>
          </a:xfrm>
          <a:prstGeom prst="rect">
            <a:avLst/>
          </a:prstGeom>
          <a:solidFill>
            <a:srgbClr val="1B2B5E"/>
          </a:solidFill>
          <a:ln w="12700">
            <a:solidFill>
              <a:srgbClr val="1B2B5E"/>
            </a:solidFill>
            <a:prstDash val="solid"/>
          </a:ln>
        </p:spPr>
      </p:sp>
      <p:sp>
        <p:nvSpPr>
          <p:cNvPr id="8" name="Text 6"/>
          <p:cNvSpPr/>
          <p:nvPr/>
        </p:nvSpPr>
        <p:spPr>
          <a:xfrm>
            <a:off x="457200" y="1188720"/>
            <a:ext cx="6858000" cy="384048"/>
          </a:xfrm>
          <a:prstGeom prst="rect">
            <a:avLst/>
          </a:prstGeom>
          <a:noFill/>
          <a:ln/>
        </p:spPr>
        <p:txBody>
          <a:bodyPr wrap="square" rtlCol="0" anchor="ctr"/>
          <a:lstStyle/>
          <a:p>
            <a:pPr algn="r" indent="0" marL="0">
              <a:buNone/>
            </a:pPr>
            <a:r>
              <a:rPr lang="en-US" sz="1600" b="1" dirty="0">
                <a:solidFill>
                  <a:srgbClr val="1B2B5E"/>
                </a:solidFill>
                <a:latin typeface="Arial" pitchFamily="34" charset="0"/>
                <a:ea typeface="Arial" pitchFamily="34" charset="-122"/>
                <a:cs typeface="Arial" pitchFamily="34" charset="-120"/>
              </a:rPr>
              <a:t>مشروع التحول الرقمي</a:t>
            </a:r>
            <a:endParaRPr lang="en-US" sz="1600" dirty="0"/>
          </a:p>
        </p:txBody>
      </p:sp>
      <p:sp>
        <p:nvSpPr>
          <p:cNvPr id="9" name="Shape 7"/>
          <p:cNvSpPr/>
          <p:nvPr/>
        </p:nvSpPr>
        <p:spPr>
          <a:xfrm>
            <a:off x="457200" y="1207008"/>
            <a:ext cx="1280160" cy="292608"/>
          </a:xfrm>
          <a:prstGeom prst="rect">
            <a:avLst/>
          </a:prstGeom>
          <a:solidFill>
            <a:srgbClr val="D4A843"/>
          </a:solidFill>
          <a:ln w="12700">
            <a:solidFill>
              <a:srgbClr val="D4A843"/>
            </a:solidFill>
            <a:prstDash val="solid"/>
          </a:ln>
        </p:spPr>
      </p:sp>
      <p:sp>
        <p:nvSpPr>
          <p:cNvPr id="10" name="Text 8"/>
          <p:cNvSpPr/>
          <p:nvPr/>
        </p:nvSpPr>
        <p:spPr>
          <a:xfrm>
            <a:off x="457200" y="1207008"/>
            <a:ext cx="1280160" cy="292608"/>
          </a:xfrm>
          <a:prstGeom prst="rect">
            <a:avLst/>
          </a:prstGeom>
          <a:noFill/>
          <a:ln/>
        </p:spPr>
        <p:txBody>
          <a:bodyPr wrap="square" rtlCol="0" anchor="ctr"/>
          <a:lstStyle/>
          <a:p>
            <a:pPr algn="ctr" indent="0" marL="0">
              <a:buNone/>
            </a:pPr>
            <a:r>
              <a:rPr lang="en-US" sz="1000" b="1" dirty="0">
                <a:solidFill>
                  <a:srgbClr val="1B2B5E"/>
                </a:solidFill>
                <a:latin typeface="Arial" pitchFamily="34" charset="0"/>
                <a:ea typeface="Arial" pitchFamily="34" charset="-122"/>
                <a:cs typeface="Arial" pitchFamily="34" charset="-120"/>
              </a:rPr>
              <a:t>قيد التنفيذ</a:t>
            </a:r>
            <a:endParaRPr lang="en-US" sz="1000" dirty="0"/>
          </a:p>
        </p:txBody>
      </p:sp>
      <p:sp>
        <p:nvSpPr>
          <p:cNvPr id="11" name="Text 9"/>
          <p:cNvSpPr/>
          <p:nvPr/>
        </p:nvSpPr>
        <p:spPr>
          <a:xfrm>
            <a:off x="457200" y="1591056"/>
            <a:ext cx="8229600" cy="292608"/>
          </a:xfrm>
          <a:prstGeom prst="rect">
            <a:avLst/>
          </a:prstGeom>
          <a:noFill/>
          <a:ln/>
        </p:spPr>
        <p:txBody>
          <a:bodyPr wrap="square" rtlCol="0" anchor="ctr"/>
          <a:lstStyle/>
          <a:p>
            <a:pPr algn="r" indent="0" marL="0">
              <a:buNone/>
            </a:pPr>
            <a:r>
              <a:rPr lang="en-US" sz="1100" dirty="0">
                <a:solidFill>
                  <a:srgbClr val="64748B"/>
                </a:solidFill>
                <a:latin typeface="Arial" pitchFamily="34" charset="0"/>
                <a:ea typeface="Arial" pitchFamily="34" charset="-122"/>
                <a:cs typeface="Arial" pitchFamily="34" charset="-120"/>
              </a:rPr>
              <a:t>تحويل العمليات التشغيلية إلى منصات رقمية متكاملة لتعزيز الكفاءة وخفض التكاليف</a:t>
            </a:r>
            <a:endParaRPr lang="en-US" sz="1100" dirty="0"/>
          </a:p>
        </p:txBody>
      </p:sp>
      <p:sp>
        <p:nvSpPr>
          <p:cNvPr id="12" name="Shape 10"/>
          <p:cNvSpPr/>
          <p:nvPr/>
        </p:nvSpPr>
        <p:spPr>
          <a:xfrm>
            <a:off x="457200" y="1938528"/>
            <a:ext cx="7498080" cy="146304"/>
          </a:xfrm>
          <a:prstGeom prst="rect">
            <a:avLst/>
          </a:prstGeom>
          <a:solidFill>
            <a:srgbClr val="D8E0F0"/>
          </a:solidFill>
          <a:ln w="12700">
            <a:solidFill>
              <a:srgbClr val="D8E0F0"/>
            </a:solidFill>
            <a:prstDash val="solid"/>
          </a:ln>
        </p:spPr>
      </p:sp>
      <p:sp>
        <p:nvSpPr>
          <p:cNvPr id="13" name="Shape 11"/>
          <p:cNvSpPr/>
          <p:nvPr/>
        </p:nvSpPr>
        <p:spPr>
          <a:xfrm>
            <a:off x="457200" y="1938528"/>
            <a:ext cx="6373368" cy="146304"/>
          </a:xfrm>
          <a:prstGeom prst="rect">
            <a:avLst/>
          </a:prstGeom>
          <a:solidFill>
            <a:srgbClr val="1B2B5E"/>
          </a:solidFill>
          <a:ln w="12700">
            <a:solidFill>
              <a:srgbClr val="1B2B5E"/>
            </a:solidFill>
            <a:prstDash val="solid"/>
          </a:ln>
        </p:spPr>
      </p:sp>
      <p:sp>
        <p:nvSpPr>
          <p:cNvPr id="14" name="Text 12"/>
          <p:cNvSpPr/>
          <p:nvPr/>
        </p:nvSpPr>
        <p:spPr>
          <a:xfrm>
            <a:off x="8028432" y="1883664"/>
            <a:ext cx="685800" cy="274320"/>
          </a:xfrm>
          <a:prstGeom prst="rect">
            <a:avLst/>
          </a:prstGeom>
          <a:noFill/>
          <a:ln/>
        </p:spPr>
        <p:txBody>
          <a:bodyPr wrap="square" rtlCol="0" anchor="ctr"/>
          <a:lstStyle/>
          <a:p>
            <a:pPr algn="ctr" indent="0" marL="0">
              <a:buNone/>
            </a:pPr>
            <a:r>
              <a:rPr lang="en-US" sz="1100" b="1" dirty="0">
                <a:solidFill>
                  <a:srgbClr val="1B2B5E"/>
                </a:solidFill>
                <a:latin typeface="Calibri" pitchFamily="34" charset="0"/>
                <a:ea typeface="Calibri" pitchFamily="34" charset="-122"/>
                <a:cs typeface="Calibri" pitchFamily="34" charset="-120"/>
              </a:rPr>
              <a:t>85%</a:t>
            </a:r>
            <a:endParaRPr lang="en-US" sz="1100" dirty="0"/>
          </a:p>
        </p:txBody>
      </p:sp>
      <p:sp>
        <p:nvSpPr>
          <p:cNvPr id="15" name="Shape 13"/>
          <p:cNvSpPr/>
          <p:nvPr/>
        </p:nvSpPr>
        <p:spPr>
          <a:xfrm>
            <a:off x="365760" y="2414016"/>
            <a:ext cx="8412480" cy="1143000"/>
          </a:xfrm>
          <a:prstGeom prst="rect">
            <a:avLst/>
          </a:prstGeom>
          <a:solidFill>
            <a:srgbClr val="FFFFFF"/>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8714232" y="2414016"/>
            <a:ext cx="64008" cy="1143000"/>
          </a:xfrm>
          <a:prstGeom prst="rect">
            <a:avLst/>
          </a:prstGeom>
          <a:solidFill>
            <a:srgbClr val="0A6E5F"/>
          </a:solidFill>
          <a:ln w="12700">
            <a:solidFill>
              <a:srgbClr val="0A6E5F"/>
            </a:solidFill>
            <a:prstDash val="solid"/>
          </a:ln>
        </p:spPr>
      </p:sp>
      <p:sp>
        <p:nvSpPr>
          <p:cNvPr id="17" name="Text 15"/>
          <p:cNvSpPr/>
          <p:nvPr/>
        </p:nvSpPr>
        <p:spPr>
          <a:xfrm>
            <a:off x="457200" y="2487168"/>
            <a:ext cx="6858000" cy="384048"/>
          </a:xfrm>
          <a:prstGeom prst="rect">
            <a:avLst/>
          </a:prstGeom>
          <a:noFill/>
          <a:ln/>
        </p:spPr>
        <p:txBody>
          <a:bodyPr wrap="square" rtlCol="0" anchor="ctr"/>
          <a:lstStyle/>
          <a:p>
            <a:pPr algn="r" indent="0" marL="0">
              <a:buNone/>
            </a:pPr>
            <a:r>
              <a:rPr lang="en-US" sz="1600" b="1" dirty="0">
                <a:solidFill>
                  <a:srgbClr val="1B2B5E"/>
                </a:solidFill>
                <a:latin typeface="Arial" pitchFamily="34" charset="0"/>
                <a:ea typeface="Arial" pitchFamily="34" charset="-122"/>
                <a:cs typeface="Arial" pitchFamily="34" charset="-120"/>
              </a:rPr>
              <a:t>توسعة خط الإنتاج</a:t>
            </a:r>
            <a:endParaRPr lang="en-US" sz="1600" dirty="0"/>
          </a:p>
        </p:txBody>
      </p:sp>
      <p:sp>
        <p:nvSpPr>
          <p:cNvPr id="18" name="Shape 16"/>
          <p:cNvSpPr/>
          <p:nvPr/>
        </p:nvSpPr>
        <p:spPr>
          <a:xfrm>
            <a:off x="457200" y="2505456"/>
            <a:ext cx="1280160" cy="292608"/>
          </a:xfrm>
          <a:prstGeom prst="rect">
            <a:avLst/>
          </a:prstGeom>
          <a:solidFill>
            <a:srgbClr val="0A6E5F"/>
          </a:solidFill>
          <a:ln w="12700">
            <a:solidFill>
              <a:srgbClr val="0A6E5F"/>
            </a:solidFill>
            <a:prstDash val="solid"/>
          </a:ln>
        </p:spPr>
      </p:sp>
      <p:sp>
        <p:nvSpPr>
          <p:cNvPr id="19" name="Text 17"/>
          <p:cNvSpPr/>
          <p:nvPr/>
        </p:nvSpPr>
        <p:spPr>
          <a:xfrm>
            <a:off x="457200" y="2505456"/>
            <a:ext cx="1280160" cy="29260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مكتمل</a:t>
            </a:r>
            <a:endParaRPr lang="en-US" sz="1000" dirty="0"/>
          </a:p>
        </p:txBody>
      </p:sp>
      <p:sp>
        <p:nvSpPr>
          <p:cNvPr id="20" name="Text 18"/>
          <p:cNvSpPr/>
          <p:nvPr/>
        </p:nvSpPr>
        <p:spPr>
          <a:xfrm>
            <a:off x="457200" y="2889504"/>
            <a:ext cx="8229600" cy="292608"/>
          </a:xfrm>
          <a:prstGeom prst="rect">
            <a:avLst/>
          </a:prstGeom>
          <a:noFill/>
          <a:ln/>
        </p:spPr>
        <p:txBody>
          <a:bodyPr wrap="square" rtlCol="0" anchor="ctr"/>
          <a:lstStyle/>
          <a:p>
            <a:pPr algn="r" indent="0" marL="0">
              <a:buNone/>
            </a:pPr>
            <a:r>
              <a:rPr lang="en-US" sz="1100" dirty="0">
                <a:solidFill>
                  <a:srgbClr val="64748B"/>
                </a:solidFill>
                <a:latin typeface="Arial" pitchFamily="34" charset="0"/>
                <a:ea typeface="Arial" pitchFamily="34" charset="-122"/>
                <a:cs typeface="Arial" pitchFamily="34" charset="-120"/>
              </a:rPr>
              <a:t>إضافة خطوط إنتاج جديدة بطاقة استيعابية أعلى لتلبية الطلب المتنامي في الأسواق</a:t>
            </a:r>
            <a:endParaRPr lang="en-US" sz="1100" dirty="0"/>
          </a:p>
        </p:txBody>
      </p:sp>
      <p:sp>
        <p:nvSpPr>
          <p:cNvPr id="21" name="Shape 19"/>
          <p:cNvSpPr/>
          <p:nvPr/>
        </p:nvSpPr>
        <p:spPr>
          <a:xfrm>
            <a:off x="457200" y="3236976"/>
            <a:ext cx="7498080" cy="146304"/>
          </a:xfrm>
          <a:prstGeom prst="rect">
            <a:avLst/>
          </a:prstGeom>
          <a:solidFill>
            <a:srgbClr val="D8E0F0"/>
          </a:solidFill>
          <a:ln w="12700">
            <a:solidFill>
              <a:srgbClr val="D8E0F0"/>
            </a:solidFill>
            <a:prstDash val="solid"/>
          </a:ln>
        </p:spPr>
      </p:sp>
      <p:sp>
        <p:nvSpPr>
          <p:cNvPr id="22" name="Shape 20"/>
          <p:cNvSpPr/>
          <p:nvPr/>
        </p:nvSpPr>
        <p:spPr>
          <a:xfrm>
            <a:off x="457200" y="3236976"/>
            <a:ext cx="7498080" cy="146304"/>
          </a:xfrm>
          <a:prstGeom prst="rect">
            <a:avLst/>
          </a:prstGeom>
          <a:solidFill>
            <a:srgbClr val="0A6E5F"/>
          </a:solidFill>
          <a:ln w="12700">
            <a:solidFill>
              <a:srgbClr val="0A6E5F"/>
            </a:solidFill>
            <a:prstDash val="solid"/>
          </a:ln>
        </p:spPr>
      </p:sp>
      <p:sp>
        <p:nvSpPr>
          <p:cNvPr id="23" name="Text 21"/>
          <p:cNvSpPr/>
          <p:nvPr/>
        </p:nvSpPr>
        <p:spPr>
          <a:xfrm>
            <a:off x="8028432" y="3182112"/>
            <a:ext cx="685800" cy="274320"/>
          </a:xfrm>
          <a:prstGeom prst="rect">
            <a:avLst/>
          </a:prstGeom>
          <a:noFill/>
          <a:ln/>
        </p:spPr>
        <p:txBody>
          <a:bodyPr wrap="square" rtlCol="0" anchor="ctr"/>
          <a:lstStyle/>
          <a:p>
            <a:pPr algn="ctr" indent="0" marL="0">
              <a:buNone/>
            </a:pPr>
            <a:r>
              <a:rPr lang="en-US" sz="1100" b="1" dirty="0">
                <a:solidFill>
                  <a:srgbClr val="0A6E5F"/>
                </a:solidFill>
                <a:latin typeface="Calibri" pitchFamily="34" charset="0"/>
                <a:ea typeface="Calibri" pitchFamily="34" charset="-122"/>
                <a:cs typeface="Calibri" pitchFamily="34" charset="-120"/>
              </a:rPr>
              <a:t>100%</a:t>
            </a:r>
            <a:endParaRPr lang="en-US" sz="1100" dirty="0"/>
          </a:p>
        </p:txBody>
      </p:sp>
      <p:sp>
        <p:nvSpPr>
          <p:cNvPr id="24" name="Shape 22"/>
          <p:cNvSpPr/>
          <p:nvPr/>
        </p:nvSpPr>
        <p:spPr>
          <a:xfrm>
            <a:off x="365760" y="3712464"/>
            <a:ext cx="8412480" cy="1143000"/>
          </a:xfrm>
          <a:prstGeom prst="rect">
            <a:avLst/>
          </a:prstGeom>
          <a:solidFill>
            <a:srgbClr val="FFFFFF"/>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8714232" y="3712464"/>
            <a:ext cx="64008" cy="1143000"/>
          </a:xfrm>
          <a:prstGeom prst="rect">
            <a:avLst/>
          </a:prstGeom>
          <a:solidFill>
            <a:srgbClr val="7B3FA0"/>
          </a:solidFill>
          <a:ln w="12700">
            <a:solidFill>
              <a:srgbClr val="7B3FA0"/>
            </a:solidFill>
            <a:prstDash val="solid"/>
          </a:ln>
        </p:spPr>
      </p:sp>
      <p:sp>
        <p:nvSpPr>
          <p:cNvPr id="26" name="Text 24"/>
          <p:cNvSpPr/>
          <p:nvPr/>
        </p:nvSpPr>
        <p:spPr>
          <a:xfrm>
            <a:off x="457200" y="3785616"/>
            <a:ext cx="6858000" cy="384048"/>
          </a:xfrm>
          <a:prstGeom prst="rect">
            <a:avLst/>
          </a:prstGeom>
          <a:noFill/>
          <a:ln/>
        </p:spPr>
        <p:txBody>
          <a:bodyPr wrap="square" rtlCol="0" anchor="ctr"/>
          <a:lstStyle/>
          <a:p>
            <a:pPr algn="r" indent="0" marL="0">
              <a:buNone/>
            </a:pPr>
            <a:r>
              <a:rPr lang="en-US" sz="1600" b="1" dirty="0">
                <a:solidFill>
                  <a:srgbClr val="1B2B5E"/>
                </a:solidFill>
                <a:latin typeface="Arial" pitchFamily="34" charset="0"/>
                <a:ea typeface="Arial" pitchFamily="34" charset="-122"/>
                <a:cs typeface="Arial" pitchFamily="34" charset="-120"/>
              </a:rPr>
              <a:t>برنامج تطوير الكوادر</a:t>
            </a:r>
            <a:endParaRPr lang="en-US" sz="1600" dirty="0"/>
          </a:p>
        </p:txBody>
      </p:sp>
      <p:sp>
        <p:nvSpPr>
          <p:cNvPr id="27" name="Shape 25"/>
          <p:cNvSpPr/>
          <p:nvPr/>
        </p:nvSpPr>
        <p:spPr>
          <a:xfrm>
            <a:off x="457200" y="3803904"/>
            <a:ext cx="1280160" cy="292608"/>
          </a:xfrm>
          <a:prstGeom prst="rect">
            <a:avLst/>
          </a:prstGeom>
          <a:solidFill>
            <a:srgbClr val="7B3FA0"/>
          </a:solidFill>
          <a:ln w="12700">
            <a:solidFill>
              <a:srgbClr val="7B3FA0"/>
            </a:solidFill>
            <a:prstDash val="solid"/>
          </a:ln>
        </p:spPr>
      </p:sp>
      <p:sp>
        <p:nvSpPr>
          <p:cNvPr id="28" name="Text 26"/>
          <p:cNvSpPr/>
          <p:nvPr/>
        </p:nvSpPr>
        <p:spPr>
          <a:xfrm>
            <a:off x="457200" y="3803904"/>
            <a:ext cx="1280160" cy="29260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قيد التنفيذ</a:t>
            </a:r>
            <a:endParaRPr lang="en-US" sz="1000" dirty="0"/>
          </a:p>
        </p:txBody>
      </p:sp>
      <p:sp>
        <p:nvSpPr>
          <p:cNvPr id="29" name="Text 27"/>
          <p:cNvSpPr/>
          <p:nvPr/>
        </p:nvSpPr>
        <p:spPr>
          <a:xfrm>
            <a:off x="457200" y="4187952"/>
            <a:ext cx="8229600" cy="292608"/>
          </a:xfrm>
          <a:prstGeom prst="rect">
            <a:avLst/>
          </a:prstGeom>
          <a:noFill/>
          <a:ln/>
        </p:spPr>
        <p:txBody>
          <a:bodyPr wrap="square" rtlCol="0" anchor="ctr"/>
          <a:lstStyle/>
          <a:p>
            <a:pPr algn="r" indent="0" marL="0">
              <a:buNone/>
            </a:pPr>
            <a:r>
              <a:rPr lang="en-US" sz="1100" dirty="0">
                <a:solidFill>
                  <a:srgbClr val="64748B"/>
                </a:solidFill>
                <a:latin typeface="Arial" pitchFamily="34" charset="0"/>
                <a:ea typeface="Arial" pitchFamily="34" charset="-122"/>
                <a:cs typeface="Arial" pitchFamily="34" charset="-120"/>
              </a:rPr>
              <a:t>تأهيل وتدريب الكوادر البشرية على أحدث الأساليب والتقنيات في مجال الأعمال</a:t>
            </a:r>
            <a:endParaRPr lang="en-US" sz="1100" dirty="0"/>
          </a:p>
        </p:txBody>
      </p:sp>
      <p:sp>
        <p:nvSpPr>
          <p:cNvPr id="30" name="Shape 28"/>
          <p:cNvSpPr/>
          <p:nvPr/>
        </p:nvSpPr>
        <p:spPr>
          <a:xfrm>
            <a:off x="457200" y="4535424"/>
            <a:ext cx="7498080" cy="146304"/>
          </a:xfrm>
          <a:prstGeom prst="rect">
            <a:avLst/>
          </a:prstGeom>
          <a:solidFill>
            <a:srgbClr val="D8E0F0"/>
          </a:solidFill>
          <a:ln w="12700">
            <a:solidFill>
              <a:srgbClr val="D8E0F0"/>
            </a:solidFill>
            <a:prstDash val="solid"/>
          </a:ln>
        </p:spPr>
      </p:sp>
      <p:sp>
        <p:nvSpPr>
          <p:cNvPr id="31" name="Shape 29"/>
          <p:cNvSpPr/>
          <p:nvPr/>
        </p:nvSpPr>
        <p:spPr>
          <a:xfrm>
            <a:off x="457200" y="4535424"/>
            <a:ext cx="5248656" cy="146304"/>
          </a:xfrm>
          <a:prstGeom prst="rect">
            <a:avLst/>
          </a:prstGeom>
          <a:solidFill>
            <a:srgbClr val="7B3FA0"/>
          </a:solidFill>
          <a:ln w="12700">
            <a:solidFill>
              <a:srgbClr val="7B3FA0"/>
            </a:solidFill>
            <a:prstDash val="solid"/>
          </a:ln>
        </p:spPr>
      </p:sp>
      <p:sp>
        <p:nvSpPr>
          <p:cNvPr id="32" name="Text 30"/>
          <p:cNvSpPr/>
          <p:nvPr/>
        </p:nvSpPr>
        <p:spPr>
          <a:xfrm>
            <a:off x="8028432" y="4480560"/>
            <a:ext cx="685800" cy="274320"/>
          </a:xfrm>
          <a:prstGeom prst="rect">
            <a:avLst/>
          </a:prstGeom>
          <a:noFill/>
          <a:ln/>
        </p:spPr>
        <p:txBody>
          <a:bodyPr wrap="square" rtlCol="0" anchor="ctr"/>
          <a:lstStyle/>
          <a:p>
            <a:pPr algn="ctr" indent="0" marL="0">
              <a:buNone/>
            </a:pPr>
            <a:r>
              <a:rPr lang="en-US" sz="1100" b="1" dirty="0">
                <a:solidFill>
                  <a:srgbClr val="7B3FA0"/>
                </a:solidFill>
                <a:latin typeface="Calibri" pitchFamily="34" charset="0"/>
                <a:ea typeface="Calibri" pitchFamily="34" charset="-122"/>
                <a:cs typeface="Calibri" pitchFamily="34" charset="-120"/>
              </a:rPr>
              <a:t>70%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B5E"/>
          </a:solidFill>
          <a:ln w="12700">
            <a:solidFill>
              <a:srgbClr val="1B2B5E"/>
            </a:solidFill>
            <a:prstDash val="solid"/>
          </a:ln>
        </p:spPr>
      </p:sp>
      <p:sp>
        <p:nvSpPr>
          <p:cNvPr id="3" name="Shape 1"/>
          <p:cNvSpPr/>
          <p:nvPr/>
        </p:nvSpPr>
        <p:spPr>
          <a:xfrm>
            <a:off x="0" y="0"/>
            <a:ext cx="9144000" cy="54864"/>
          </a:xfrm>
          <a:prstGeom prst="rect">
            <a:avLst/>
          </a:prstGeom>
          <a:solidFill>
            <a:srgbClr val="D4A843"/>
          </a:solidFill>
          <a:ln w="12700">
            <a:solidFill>
              <a:srgbClr val="D4A843"/>
            </a:solidFill>
            <a:prstDash val="solid"/>
          </a:ln>
        </p:spPr>
      </p:sp>
      <p:sp>
        <p:nvSpPr>
          <p:cNvPr id="4" name="Text 2"/>
          <p:cNvSpPr/>
          <p:nvPr/>
        </p:nvSpPr>
        <p:spPr>
          <a:xfrm>
            <a:off x="365760" y="137160"/>
            <a:ext cx="8412480" cy="548640"/>
          </a:xfrm>
          <a:prstGeom prst="rect">
            <a:avLst/>
          </a:prstGeom>
          <a:noFill/>
          <a:ln/>
        </p:spPr>
        <p:txBody>
          <a:bodyPr wrap="square" rtlCol="0" anchor="ctr"/>
          <a:lstStyle/>
          <a:p>
            <a:pPr algn="r" indent="0" marL="0">
              <a:buNone/>
            </a:pPr>
            <a:r>
              <a:rPr lang="en-US" sz="2800" b="1" dirty="0">
                <a:solidFill>
                  <a:srgbClr val="FFFFFF"/>
                </a:solidFill>
                <a:latin typeface="Arial" pitchFamily="34" charset="0"/>
                <a:ea typeface="Arial" pitchFamily="34" charset="-122"/>
                <a:cs typeface="Arial" pitchFamily="34" charset="-120"/>
              </a:rPr>
              <a:t>الخطة المستقبلية 2026</a:t>
            </a:r>
            <a:endParaRPr lang="en-US" sz="2800" dirty="0"/>
          </a:p>
        </p:txBody>
      </p:sp>
      <p:sp>
        <p:nvSpPr>
          <p:cNvPr id="5" name="Text 3"/>
          <p:cNvSpPr/>
          <p:nvPr/>
        </p:nvSpPr>
        <p:spPr>
          <a:xfrm>
            <a:off x="365760" y="640080"/>
            <a:ext cx="8412480" cy="256032"/>
          </a:xfrm>
          <a:prstGeom prst="rect">
            <a:avLst/>
          </a:prstGeom>
          <a:noFill/>
          <a:ln/>
        </p:spPr>
        <p:txBody>
          <a:bodyPr wrap="square" rtlCol="0" anchor="ctr"/>
          <a:lstStyle/>
          <a:p>
            <a:pPr algn="r" indent="0" marL="0">
              <a:buNone/>
            </a:pPr>
            <a:r>
              <a:rPr lang="en-US" sz="900" spc="400" kern="0" dirty="0">
                <a:solidFill>
                  <a:srgbClr val="8899BB"/>
                </a:solidFill>
                <a:latin typeface="Calibri" pitchFamily="34" charset="0"/>
                <a:ea typeface="Calibri" pitchFamily="34" charset="-122"/>
                <a:cs typeface="Calibri" pitchFamily="34" charset="-120"/>
              </a:rPr>
              <a:t>FUTURE PLAN</a:t>
            </a:r>
            <a:endParaRPr lang="en-US" sz="900" dirty="0"/>
          </a:p>
        </p:txBody>
      </p:sp>
      <p:sp>
        <p:nvSpPr>
          <p:cNvPr id="6" name="Shape 4"/>
          <p:cNvSpPr/>
          <p:nvPr/>
        </p:nvSpPr>
        <p:spPr>
          <a:xfrm>
            <a:off x="365760" y="1170432"/>
            <a:ext cx="4114800" cy="1755648"/>
          </a:xfrm>
          <a:prstGeom prst="rect">
            <a:avLst/>
          </a:prstGeom>
          <a:solidFill>
            <a:srgbClr val="F5F7FC"/>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65760" y="1170432"/>
            <a:ext cx="4114800" cy="54864"/>
          </a:xfrm>
          <a:prstGeom prst="rect">
            <a:avLst/>
          </a:prstGeom>
          <a:solidFill>
            <a:srgbClr val="1B2B5E"/>
          </a:solidFill>
          <a:ln w="12700">
            <a:solidFill>
              <a:srgbClr val="1B2B5E"/>
            </a:solidFill>
            <a:prstDash val="solid"/>
          </a:ln>
        </p:spPr>
      </p:sp>
      <p:sp>
        <p:nvSpPr>
          <p:cNvPr id="8" name="Shape 6"/>
          <p:cNvSpPr/>
          <p:nvPr/>
        </p:nvSpPr>
        <p:spPr>
          <a:xfrm>
            <a:off x="3913632" y="1298448"/>
            <a:ext cx="475488" cy="402336"/>
          </a:xfrm>
          <a:prstGeom prst="rect">
            <a:avLst/>
          </a:prstGeom>
          <a:solidFill>
            <a:srgbClr val="1B2B5E"/>
          </a:solidFill>
          <a:ln w="12700">
            <a:solidFill>
              <a:srgbClr val="1B2B5E"/>
            </a:solidFill>
            <a:prstDash val="solid"/>
          </a:ln>
        </p:spPr>
      </p:sp>
      <p:sp>
        <p:nvSpPr>
          <p:cNvPr id="9" name="Text 7"/>
          <p:cNvSpPr/>
          <p:nvPr/>
        </p:nvSpPr>
        <p:spPr>
          <a:xfrm>
            <a:off x="3913632" y="1298448"/>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0" name="Shape 8"/>
          <p:cNvSpPr/>
          <p:nvPr/>
        </p:nvSpPr>
        <p:spPr>
          <a:xfrm>
            <a:off x="475488" y="1335024"/>
            <a:ext cx="1188720" cy="329184"/>
          </a:xfrm>
          <a:prstGeom prst="rect">
            <a:avLst/>
          </a:prstGeom>
          <a:solidFill>
            <a:srgbClr val="1B2B5E"/>
          </a:solidFill>
          <a:ln w="12700">
            <a:solidFill>
              <a:srgbClr val="1B2B5E"/>
            </a:solidFill>
            <a:prstDash val="solid"/>
          </a:ln>
        </p:spPr>
      </p:sp>
      <p:sp>
        <p:nvSpPr>
          <p:cNvPr id="11" name="Text 9"/>
          <p:cNvSpPr/>
          <p:nvPr/>
        </p:nvSpPr>
        <p:spPr>
          <a:xfrm>
            <a:off x="475488" y="1335024"/>
            <a:ext cx="118872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25%</a:t>
            </a:r>
            <a:endParaRPr lang="en-US" sz="1200" dirty="0"/>
          </a:p>
        </p:txBody>
      </p:sp>
      <p:sp>
        <p:nvSpPr>
          <p:cNvPr id="12" name="Text 10"/>
          <p:cNvSpPr/>
          <p:nvPr/>
        </p:nvSpPr>
        <p:spPr>
          <a:xfrm>
            <a:off x="457200" y="1764792"/>
            <a:ext cx="3931920" cy="402336"/>
          </a:xfrm>
          <a:prstGeom prst="rect">
            <a:avLst/>
          </a:prstGeom>
          <a:noFill/>
          <a:ln/>
        </p:spPr>
        <p:txBody>
          <a:bodyPr wrap="square" rtlCol="0" anchor="ctr"/>
          <a:lstStyle/>
          <a:p>
            <a:pPr algn="r" indent="0" marL="0">
              <a:buNone/>
            </a:pPr>
            <a:r>
              <a:rPr lang="en-US" sz="1500" b="1" dirty="0">
                <a:solidFill>
                  <a:srgbClr val="1B2B5E"/>
                </a:solidFill>
                <a:latin typeface="Arial" pitchFamily="34" charset="0"/>
                <a:ea typeface="Arial" pitchFamily="34" charset="-122"/>
                <a:cs typeface="Arial" pitchFamily="34" charset="-120"/>
              </a:rPr>
              <a:t>زيادة الحصة السوقية</a:t>
            </a:r>
            <a:endParaRPr lang="en-US" sz="1500" dirty="0"/>
          </a:p>
        </p:txBody>
      </p:sp>
      <p:sp>
        <p:nvSpPr>
          <p:cNvPr id="13" name="Text 11"/>
          <p:cNvSpPr/>
          <p:nvPr/>
        </p:nvSpPr>
        <p:spPr>
          <a:xfrm>
            <a:off x="457200" y="2176272"/>
            <a:ext cx="3931920" cy="658368"/>
          </a:xfrm>
          <a:prstGeom prst="rect">
            <a:avLst/>
          </a:prstGeom>
          <a:noFill/>
          <a:ln/>
        </p:spPr>
        <p:txBody>
          <a:bodyPr wrap="square" rtlCol="0" anchor="ctr"/>
          <a:lstStyle/>
          <a:p>
            <a:pPr algn="r" indent="0" marL="0">
              <a:buNone/>
            </a:pPr>
            <a:r>
              <a:rPr lang="en-US" sz="1100" dirty="0">
                <a:solidFill>
                  <a:srgbClr val="64748B"/>
                </a:solidFill>
                <a:latin typeface="Arial" pitchFamily="34" charset="0"/>
                <a:ea typeface="Arial" pitchFamily="34" charset="-122"/>
                <a:cs typeface="Arial" pitchFamily="34" charset="-120"/>
              </a:rPr>
              <a:t>تحقيق حصة سوقية تصل إلى 25% عبر توسّع مدروس في الأسواق الحالية والجديدة</a:t>
            </a:r>
            <a:endParaRPr lang="en-US" sz="1100" dirty="0"/>
          </a:p>
        </p:txBody>
      </p:sp>
      <p:sp>
        <p:nvSpPr>
          <p:cNvPr id="14" name="Shape 12"/>
          <p:cNvSpPr/>
          <p:nvPr/>
        </p:nvSpPr>
        <p:spPr>
          <a:xfrm>
            <a:off x="4709160" y="1170432"/>
            <a:ext cx="4114800" cy="1755648"/>
          </a:xfrm>
          <a:prstGeom prst="rect">
            <a:avLst/>
          </a:prstGeom>
          <a:solidFill>
            <a:srgbClr val="F5F7FC"/>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4709160" y="1170432"/>
            <a:ext cx="4114800" cy="54864"/>
          </a:xfrm>
          <a:prstGeom prst="rect">
            <a:avLst/>
          </a:prstGeom>
          <a:solidFill>
            <a:srgbClr val="B8891E"/>
          </a:solidFill>
          <a:ln w="12700">
            <a:solidFill>
              <a:srgbClr val="B8891E"/>
            </a:solidFill>
            <a:prstDash val="solid"/>
          </a:ln>
        </p:spPr>
      </p:sp>
      <p:sp>
        <p:nvSpPr>
          <p:cNvPr id="16" name="Shape 14"/>
          <p:cNvSpPr/>
          <p:nvPr/>
        </p:nvSpPr>
        <p:spPr>
          <a:xfrm>
            <a:off x="8257032" y="1298448"/>
            <a:ext cx="475488" cy="402336"/>
          </a:xfrm>
          <a:prstGeom prst="rect">
            <a:avLst/>
          </a:prstGeom>
          <a:solidFill>
            <a:srgbClr val="B8891E"/>
          </a:solidFill>
          <a:ln w="12700">
            <a:solidFill>
              <a:srgbClr val="B8891E"/>
            </a:solidFill>
            <a:prstDash val="solid"/>
          </a:ln>
        </p:spPr>
      </p:sp>
      <p:sp>
        <p:nvSpPr>
          <p:cNvPr id="17" name="Text 15"/>
          <p:cNvSpPr/>
          <p:nvPr/>
        </p:nvSpPr>
        <p:spPr>
          <a:xfrm>
            <a:off x="8257032" y="1298448"/>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8" name="Shape 16"/>
          <p:cNvSpPr/>
          <p:nvPr/>
        </p:nvSpPr>
        <p:spPr>
          <a:xfrm>
            <a:off x="4818888" y="1335024"/>
            <a:ext cx="1188720" cy="329184"/>
          </a:xfrm>
          <a:prstGeom prst="rect">
            <a:avLst/>
          </a:prstGeom>
          <a:solidFill>
            <a:srgbClr val="B8891E"/>
          </a:solidFill>
          <a:ln w="12700">
            <a:solidFill>
              <a:srgbClr val="B8891E"/>
            </a:solidFill>
            <a:prstDash val="solid"/>
          </a:ln>
        </p:spPr>
      </p:sp>
      <p:sp>
        <p:nvSpPr>
          <p:cNvPr id="19" name="Text 17"/>
          <p:cNvSpPr/>
          <p:nvPr/>
        </p:nvSpPr>
        <p:spPr>
          <a:xfrm>
            <a:off x="4818888" y="1335024"/>
            <a:ext cx="118872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منتجات</a:t>
            </a:r>
            <a:endParaRPr lang="en-US" sz="1200" dirty="0"/>
          </a:p>
        </p:txBody>
      </p:sp>
      <p:sp>
        <p:nvSpPr>
          <p:cNvPr id="20" name="Text 18"/>
          <p:cNvSpPr/>
          <p:nvPr/>
        </p:nvSpPr>
        <p:spPr>
          <a:xfrm>
            <a:off x="4800600" y="1764792"/>
            <a:ext cx="3931920" cy="402336"/>
          </a:xfrm>
          <a:prstGeom prst="rect">
            <a:avLst/>
          </a:prstGeom>
          <a:noFill/>
          <a:ln/>
        </p:spPr>
        <p:txBody>
          <a:bodyPr wrap="square" rtlCol="0" anchor="ctr"/>
          <a:lstStyle/>
          <a:p>
            <a:pPr algn="r" indent="0" marL="0">
              <a:buNone/>
            </a:pPr>
            <a:r>
              <a:rPr lang="en-US" sz="1500" b="1" dirty="0">
                <a:solidFill>
                  <a:srgbClr val="1B2B5E"/>
                </a:solidFill>
                <a:latin typeface="Arial" pitchFamily="34" charset="0"/>
                <a:ea typeface="Arial" pitchFamily="34" charset="-122"/>
                <a:cs typeface="Arial" pitchFamily="34" charset="-120"/>
              </a:rPr>
              <a:t>إطلاق منتجات جديدة</a:t>
            </a:r>
            <a:endParaRPr lang="en-US" sz="1500" dirty="0"/>
          </a:p>
        </p:txBody>
      </p:sp>
      <p:sp>
        <p:nvSpPr>
          <p:cNvPr id="21" name="Text 19"/>
          <p:cNvSpPr/>
          <p:nvPr/>
        </p:nvSpPr>
        <p:spPr>
          <a:xfrm>
            <a:off x="4800600" y="2176272"/>
            <a:ext cx="3931920" cy="658368"/>
          </a:xfrm>
          <a:prstGeom prst="rect">
            <a:avLst/>
          </a:prstGeom>
          <a:noFill/>
          <a:ln/>
        </p:spPr>
        <p:txBody>
          <a:bodyPr wrap="square" rtlCol="0" anchor="ctr"/>
          <a:lstStyle/>
          <a:p>
            <a:pPr algn="r" indent="0" marL="0">
              <a:buNone/>
            </a:pPr>
            <a:r>
              <a:rPr lang="en-US" sz="1100" dirty="0">
                <a:solidFill>
                  <a:srgbClr val="64748B"/>
                </a:solidFill>
                <a:latin typeface="Arial" pitchFamily="34" charset="0"/>
                <a:ea typeface="Arial" pitchFamily="34" charset="-122"/>
                <a:cs typeface="Arial" pitchFamily="34" charset="-120"/>
              </a:rPr>
              <a:t>إطلاق 3 منتجات وخدمات جديدة تُلبّي احتياجات شريحة العملاء المستهدفة</a:t>
            </a:r>
            <a:endParaRPr lang="en-US" sz="1100" dirty="0"/>
          </a:p>
        </p:txBody>
      </p:sp>
      <p:sp>
        <p:nvSpPr>
          <p:cNvPr id="22" name="Shape 20"/>
          <p:cNvSpPr/>
          <p:nvPr/>
        </p:nvSpPr>
        <p:spPr>
          <a:xfrm>
            <a:off x="365760" y="3108960"/>
            <a:ext cx="4114800" cy="1755648"/>
          </a:xfrm>
          <a:prstGeom prst="rect">
            <a:avLst/>
          </a:prstGeom>
          <a:solidFill>
            <a:srgbClr val="F5F7FC"/>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365760" y="3108960"/>
            <a:ext cx="4114800" cy="54864"/>
          </a:xfrm>
          <a:prstGeom prst="rect">
            <a:avLst/>
          </a:prstGeom>
          <a:solidFill>
            <a:srgbClr val="0A6E5F"/>
          </a:solidFill>
          <a:ln w="12700">
            <a:solidFill>
              <a:srgbClr val="0A6E5F"/>
            </a:solidFill>
            <a:prstDash val="solid"/>
          </a:ln>
        </p:spPr>
      </p:sp>
      <p:sp>
        <p:nvSpPr>
          <p:cNvPr id="24" name="Shape 22"/>
          <p:cNvSpPr/>
          <p:nvPr/>
        </p:nvSpPr>
        <p:spPr>
          <a:xfrm>
            <a:off x="3913632" y="3236976"/>
            <a:ext cx="475488" cy="402336"/>
          </a:xfrm>
          <a:prstGeom prst="rect">
            <a:avLst/>
          </a:prstGeom>
          <a:solidFill>
            <a:srgbClr val="0A6E5F"/>
          </a:solidFill>
          <a:ln w="12700">
            <a:solidFill>
              <a:srgbClr val="0A6E5F"/>
            </a:solidFill>
            <a:prstDash val="solid"/>
          </a:ln>
        </p:spPr>
      </p:sp>
      <p:sp>
        <p:nvSpPr>
          <p:cNvPr id="25" name="Text 23"/>
          <p:cNvSpPr/>
          <p:nvPr/>
        </p:nvSpPr>
        <p:spPr>
          <a:xfrm>
            <a:off x="3913632" y="3236976"/>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6" name="Shape 24"/>
          <p:cNvSpPr/>
          <p:nvPr/>
        </p:nvSpPr>
        <p:spPr>
          <a:xfrm>
            <a:off x="475488" y="3273552"/>
            <a:ext cx="1188720" cy="329184"/>
          </a:xfrm>
          <a:prstGeom prst="rect">
            <a:avLst/>
          </a:prstGeom>
          <a:solidFill>
            <a:srgbClr val="0A6E5F"/>
          </a:solidFill>
          <a:ln w="12700">
            <a:solidFill>
              <a:srgbClr val="0A6E5F"/>
            </a:solidFill>
            <a:prstDash val="solid"/>
          </a:ln>
        </p:spPr>
      </p:sp>
      <p:sp>
        <p:nvSpPr>
          <p:cNvPr id="27" name="Text 25"/>
          <p:cNvSpPr/>
          <p:nvPr/>
        </p:nvSpPr>
        <p:spPr>
          <a:xfrm>
            <a:off x="475488" y="3273552"/>
            <a:ext cx="118872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سوقان</a:t>
            </a:r>
            <a:endParaRPr lang="en-US" sz="1200" dirty="0"/>
          </a:p>
        </p:txBody>
      </p:sp>
      <p:sp>
        <p:nvSpPr>
          <p:cNvPr id="28" name="Text 26"/>
          <p:cNvSpPr/>
          <p:nvPr/>
        </p:nvSpPr>
        <p:spPr>
          <a:xfrm>
            <a:off x="457200" y="3703320"/>
            <a:ext cx="3931920" cy="402336"/>
          </a:xfrm>
          <a:prstGeom prst="rect">
            <a:avLst/>
          </a:prstGeom>
          <a:noFill/>
          <a:ln/>
        </p:spPr>
        <p:txBody>
          <a:bodyPr wrap="square" rtlCol="0" anchor="ctr"/>
          <a:lstStyle/>
          <a:p>
            <a:pPr algn="r" indent="0" marL="0">
              <a:buNone/>
            </a:pPr>
            <a:r>
              <a:rPr lang="en-US" sz="1500" b="1" dirty="0">
                <a:solidFill>
                  <a:srgbClr val="1B2B5E"/>
                </a:solidFill>
                <a:latin typeface="Arial" pitchFamily="34" charset="0"/>
                <a:ea typeface="Arial" pitchFamily="34" charset="-122"/>
                <a:cs typeface="Arial" pitchFamily="34" charset="-120"/>
              </a:rPr>
              <a:t>التوسع الإقليمي</a:t>
            </a:r>
            <a:endParaRPr lang="en-US" sz="1500" dirty="0"/>
          </a:p>
        </p:txBody>
      </p:sp>
      <p:sp>
        <p:nvSpPr>
          <p:cNvPr id="29" name="Text 27"/>
          <p:cNvSpPr/>
          <p:nvPr/>
        </p:nvSpPr>
        <p:spPr>
          <a:xfrm>
            <a:off x="457200" y="4114800"/>
            <a:ext cx="3931920" cy="658368"/>
          </a:xfrm>
          <a:prstGeom prst="rect">
            <a:avLst/>
          </a:prstGeom>
          <a:noFill/>
          <a:ln/>
        </p:spPr>
        <p:txBody>
          <a:bodyPr wrap="square" rtlCol="0" anchor="ctr"/>
          <a:lstStyle/>
          <a:p>
            <a:pPr algn="r" indent="0" marL="0">
              <a:buNone/>
            </a:pPr>
            <a:r>
              <a:rPr lang="en-US" sz="1100" dirty="0">
                <a:solidFill>
                  <a:srgbClr val="64748B"/>
                </a:solidFill>
                <a:latin typeface="Arial" pitchFamily="34" charset="0"/>
                <a:ea typeface="Arial" pitchFamily="34" charset="-122"/>
                <a:cs typeface="Arial" pitchFamily="34" charset="-120"/>
              </a:rPr>
              <a:t>الدخول إلى سوقين إقليميين جديدين مع بناء شراكات استراتيجية محلية فاعلة</a:t>
            </a:r>
            <a:endParaRPr lang="en-US" sz="1100" dirty="0"/>
          </a:p>
        </p:txBody>
      </p:sp>
      <p:sp>
        <p:nvSpPr>
          <p:cNvPr id="30" name="Shape 28"/>
          <p:cNvSpPr/>
          <p:nvPr/>
        </p:nvSpPr>
        <p:spPr>
          <a:xfrm>
            <a:off x="4709160" y="3108960"/>
            <a:ext cx="4114800" cy="1755648"/>
          </a:xfrm>
          <a:prstGeom prst="rect">
            <a:avLst/>
          </a:prstGeom>
          <a:solidFill>
            <a:srgbClr val="F5F7FC"/>
          </a:solidFill>
          <a:ln w="12700">
            <a:solidFill>
              <a:srgbClr val="D0D8E8"/>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4709160" y="3108960"/>
            <a:ext cx="4114800" cy="54864"/>
          </a:xfrm>
          <a:prstGeom prst="rect">
            <a:avLst/>
          </a:prstGeom>
          <a:solidFill>
            <a:srgbClr val="7B3FA0"/>
          </a:solidFill>
          <a:ln w="12700">
            <a:solidFill>
              <a:srgbClr val="7B3FA0"/>
            </a:solidFill>
            <a:prstDash val="solid"/>
          </a:ln>
        </p:spPr>
      </p:sp>
      <p:sp>
        <p:nvSpPr>
          <p:cNvPr id="32" name="Shape 30"/>
          <p:cNvSpPr/>
          <p:nvPr/>
        </p:nvSpPr>
        <p:spPr>
          <a:xfrm>
            <a:off x="8257032" y="3236976"/>
            <a:ext cx="475488" cy="402336"/>
          </a:xfrm>
          <a:prstGeom prst="rect">
            <a:avLst/>
          </a:prstGeom>
          <a:solidFill>
            <a:srgbClr val="7B3FA0"/>
          </a:solidFill>
          <a:ln w="12700">
            <a:solidFill>
              <a:srgbClr val="7B3FA0"/>
            </a:solidFill>
            <a:prstDash val="solid"/>
          </a:ln>
        </p:spPr>
      </p:sp>
      <p:sp>
        <p:nvSpPr>
          <p:cNvPr id="33" name="Text 31"/>
          <p:cNvSpPr/>
          <p:nvPr/>
        </p:nvSpPr>
        <p:spPr>
          <a:xfrm>
            <a:off x="8257032" y="3236976"/>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34" name="Shape 32"/>
          <p:cNvSpPr/>
          <p:nvPr/>
        </p:nvSpPr>
        <p:spPr>
          <a:xfrm>
            <a:off x="4818888" y="3273552"/>
            <a:ext cx="1188720" cy="329184"/>
          </a:xfrm>
          <a:prstGeom prst="rect">
            <a:avLst/>
          </a:prstGeom>
          <a:solidFill>
            <a:srgbClr val="7B3FA0"/>
          </a:solidFill>
          <a:ln w="12700">
            <a:solidFill>
              <a:srgbClr val="7B3FA0"/>
            </a:solidFill>
            <a:prstDash val="solid"/>
          </a:ln>
        </p:spPr>
      </p:sp>
      <p:sp>
        <p:nvSpPr>
          <p:cNvPr id="35" name="Text 33"/>
          <p:cNvSpPr/>
          <p:nvPr/>
        </p:nvSpPr>
        <p:spPr>
          <a:xfrm>
            <a:off x="4818888" y="3273552"/>
            <a:ext cx="118872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15%</a:t>
            </a:r>
            <a:endParaRPr lang="en-US" sz="1200" dirty="0"/>
          </a:p>
        </p:txBody>
      </p:sp>
      <p:sp>
        <p:nvSpPr>
          <p:cNvPr id="36" name="Text 34"/>
          <p:cNvSpPr/>
          <p:nvPr/>
        </p:nvSpPr>
        <p:spPr>
          <a:xfrm>
            <a:off x="4800600" y="3703320"/>
            <a:ext cx="3931920" cy="402336"/>
          </a:xfrm>
          <a:prstGeom prst="rect">
            <a:avLst/>
          </a:prstGeom>
          <a:noFill/>
          <a:ln/>
        </p:spPr>
        <p:txBody>
          <a:bodyPr wrap="square" rtlCol="0" anchor="ctr"/>
          <a:lstStyle/>
          <a:p>
            <a:pPr algn="r" indent="0" marL="0">
              <a:buNone/>
            </a:pPr>
            <a:r>
              <a:rPr lang="en-US" sz="1500" b="1" dirty="0">
                <a:solidFill>
                  <a:srgbClr val="1B2B5E"/>
                </a:solidFill>
                <a:latin typeface="Arial" pitchFamily="34" charset="0"/>
                <a:ea typeface="Arial" pitchFamily="34" charset="-122"/>
                <a:cs typeface="Arial" pitchFamily="34" charset="-120"/>
              </a:rPr>
              <a:t>رفع الكفاءة التشغيلية</a:t>
            </a:r>
            <a:endParaRPr lang="en-US" sz="1500" dirty="0"/>
          </a:p>
        </p:txBody>
      </p:sp>
      <p:sp>
        <p:nvSpPr>
          <p:cNvPr id="37" name="Text 35"/>
          <p:cNvSpPr/>
          <p:nvPr/>
        </p:nvSpPr>
        <p:spPr>
          <a:xfrm>
            <a:off x="4800600" y="4114800"/>
            <a:ext cx="3931920" cy="658368"/>
          </a:xfrm>
          <a:prstGeom prst="rect">
            <a:avLst/>
          </a:prstGeom>
          <a:noFill/>
          <a:ln/>
        </p:spPr>
        <p:txBody>
          <a:bodyPr wrap="square" rtlCol="0" anchor="ctr"/>
          <a:lstStyle/>
          <a:p>
            <a:pPr algn="r" indent="0" marL="0">
              <a:buNone/>
            </a:pPr>
            <a:r>
              <a:rPr lang="en-US" sz="1100" dirty="0">
                <a:solidFill>
                  <a:srgbClr val="64748B"/>
                </a:solidFill>
                <a:latin typeface="Arial" pitchFamily="34" charset="0"/>
                <a:ea typeface="Arial" pitchFamily="34" charset="-122"/>
                <a:cs typeface="Arial" pitchFamily="34" charset="-120"/>
              </a:rPr>
              <a:t>تحسين العمليات الداخلية لتحقيق وفورات تشغيلية بنسبة 15% دون المساس بالجودة</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B5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w="12700">
            <a:solidFill>
              <a:srgbClr val="D4A843"/>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الخلاصة والتوصيات</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algn="ctr" indent="0" marL="0">
              <a:buNone/>
            </a:pPr>
            <a:r>
              <a:rPr lang="en-US" sz="900" spc="400" kern="0" dirty="0">
                <a:solidFill>
                  <a:srgbClr val="8899BB"/>
                </a:solidFill>
                <a:latin typeface="Calibri" pitchFamily="34" charset="0"/>
                <a:ea typeface="Calibri" pitchFamily="34" charset="-122"/>
                <a:cs typeface="Calibri" pitchFamily="34" charset="-120"/>
              </a:rPr>
              <a:t>CONCLUSION &amp; RECOMMENDATIONS</a:t>
            </a:r>
            <a:endParaRPr lang="en-US" sz="900" dirty="0"/>
          </a:p>
        </p:txBody>
      </p:sp>
      <p:sp>
        <p:nvSpPr>
          <p:cNvPr id="5" name="Shape 3"/>
          <p:cNvSpPr/>
          <p:nvPr/>
        </p:nvSpPr>
        <p:spPr>
          <a:xfrm>
            <a:off x="3200400" y="1078992"/>
            <a:ext cx="2743200" cy="0"/>
          </a:xfrm>
          <a:prstGeom prst="line">
            <a:avLst/>
          </a:prstGeom>
          <a:noFill/>
          <a:ln w="19050">
            <a:solidFill>
              <a:srgbClr val="D4A843"/>
            </a:solidFill>
            <a:prstDash val="solid"/>
          </a:ln>
        </p:spPr>
      </p:sp>
      <p:sp>
        <p:nvSpPr>
          <p:cNvPr id="6" name="Shape 4"/>
          <p:cNvSpPr/>
          <p:nvPr/>
        </p:nvSpPr>
        <p:spPr>
          <a:xfrm>
            <a:off x="365760" y="1188720"/>
            <a:ext cx="8412480" cy="777240"/>
          </a:xfrm>
          <a:prstGeom prst="rect">
            <a:avLst/>
          </a:prstGeom>
          <a:solidFill>
            <a:srgbClr val="263B7A"/>
          </a:solidFill>
          <a:ln w="12700">
            <a:solidFill>
              <a:srgbClr val="263B7A"/>
            </a:solidFill>
            <a:prstDash val="solid"/>
          </a:ln>
        </p:spPr>
      </p:sp>
      <p:sp>
        <p:nvSpPr>
          <p:cNvPr id="7" name="Shape 5"/>
          <p:cNvSpPr/>
          <p:nvPr/>
        </p:nvSpPr>
        <p:spPr>
          <a:xfrm>
            <a:off x="8705088" y="1188720"/>
            <a:ext cx="64008" cy="777240"/>
          </a:xfrm>
          <a:prstGeom prst="rect">
            <a:avLst/>
          </a:prstGeom>
          <a:solidFill>
            <a:srgbClr val="D4A843"/>
          </a:solidFill>
          <a:ln w="12700">
            <a:solidFill>
              <a:srgbClr val="D4A843"/>
            </a:solidFill>
            <a:prstDash val="solid"/>
          </a:ln>
        </p:spPr>
      </p:sp>
      <p:sp>
        <p:nvSpPr>
          <p:cNvPr id="8" name="Text 6"/>
          <p:cNvSpPr/>
          <p:nvPr/>
        </p:nvSpPr>
        <p:spPr>
          <a:xfrm>
            <a:off x="502920" y="1234440"/>
            <a:ext cx="8092440" cy="658368"/>
          </a:xfrm>
          <a:prstGeom prst="rect">
            <a:avLst/>
          </a:prstGeom>
          <a:noFill/>
          <a:ln/>
        </p:spPr>
        <p:txBody>
          <a:bodyPr wrap="square" rtlCol="0" anchor="ctr"/>
          <a:lstStyle/>
          <a:p>
            <a:pPr algn="r" indent="0" marL="0">
              <a:buNone/>
            </a:pPr>
            <a:r>
              <a:rPr lang="en-US" sz="1200" dirty="0">
                <a:solidFill>
                  <a:srgbClr val="D0D8EC"/>
                </a:solidFill>
                <a:latin typeface="Arial" pitchFamily="34" charset="0"/>
                <a:ea typeface="Arial" pitchFamily="34" charset="-122"/>
                <a:cs typeface="Arial" pitchFamily="34" charset="-120"/>
              </a:rPr>
              <a:t>أثبتت شركة النجاح للاستثمار خلال عام 2025 قدرتها على تحقيق نمو مستدام، مما يُرسّخ مكانتها كلاعب رئيسي في السوق ويمهّد الطريق لتحقيق أهداف أكبر في عام 2026.</a:t>
            </a:r>
            <a:endParaRPr lang="en-US" sz="1200" dirty="0"/>
          </a:p>
        </p:txBody>
      </p:sp>
      <p:sp>
        <p:nvSpPr>
          <p:cNvPr id="9" name="Shape 7"/>
          <p:cNvSpPr/>
          <p:nvPr/>
        </p:nvSpPr>
        <p:spPr>
          <a:xfrm>
            <a:off x="365760" y="2121408"/>
            <a:ext cx="8412480" cy="566928"/>
          </a:xfrm>
          <a:prstGeom prst="rect">
            <a:avLst/>
          </a:prstGeom>
          <a:solidFill>
            <a:srgbClr val="1E3670"/>
          </a:solidFill>
          <a:ln w="12700">
            <a:solidFill>
              <a:srgbClr val="2A4A8A"/>
            </a:solidFill>
            <a:prstDash val="solid"/>
          </a:ln>
        </p:spPr>
      </p:sp>
      <p:sp>
        <p:nvSpPr>
          <p:cNvPr id="10" name="Shape 8"/>
          <p:cNvSpPr/>
          <p:nvPr/>
        </p:nvSpPr>
        <p:spPr>
          <a:xfrm>
            <a:off x="8705088" y="2121408"/>
            <a:ext cx="64008" cy="566928"/>
          </a:xfrm>
          <a:prstGeom prst="rect">
            <a:avLst/>
          </a:prstGeom>
          <a:solidFill>
            <a:srgbClr val="D4A843"/>
          </a:solidFill>
          <a:ln w="12700">
            <a:solidFill>
              <a:srgbClr val="D4A843"/>
            </a:solidFill>
            <a:prstDash val="solid"/>
          </a:ln>
        </p:spPr>
      </p:sp>
      <p:sp>
        <p:nvSpPr>
          <p:cNvPr id="11" name="Shape 9"/>
          <p:cNvSpPr/>
          <p:nvPr/>
        </p:nvSpPr>
        <p:spPr>
          <a:xfrm>
            <a:off x="8211312" y="2221992"/>
            <a:ext cx="475488" cy="365760"/>
          </a:xfrm>
          <a:prstGeom prst="rect">
            <a:avLst/>
          </a:prstGeom>
          <a:solidFill>
            <a:srgbClr val="D4A843"/>
          </a:solidFill>
          <a:ln w="12700">
            <a:solidFill>
              <a:srgbClr val="D4A843"/>
            </a:solidFill>
            <a:prstDash val="solid"/>
          </a:ln>
        </p:spPr>
      </p:sp>
      <p:sp>
        <p:nvSpPr>
          <p:cNvPr id="12" name="Text 10"/>
          <p:cNvSpPr/>
          <p:nvPr/>
        </p:nvSpPr>
        <p:spPr>
          <a:xfrm>
            <a:off x="8211312" y="2221992"/>
            <a:ext cx="475488" cy="365760"/>
          </a:xfrm>
          <a:prstGeom prst="rect">
            <a:avLst/>
          </a:prstGeom>
          <a:noFill/>
          <a:ln/>
        </p:spPr>
        <p:txBody>
          <a:bodyPr wrap="square" lIns="0" tIns="0" rIns="0" bIns="0" rtlCol="0" anchor="ctr"/>
          <a:lstStyle/>
          <a:p>
            <a:pPr algn="ctr" indent="0" marL="0">
              <a:buNone/>
            </a:pPr>
            <a:r>
              <a:rPr lang="en-US" sz="1200" b="1" dirty="0">
                <a:solidFill>
                  <a:srgbClr val="1B2B5E"/>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502920" y="2221992"/>
            <a:ext cx="7571232" cy="365760"/>
          </a:xfrm>
          <a:prstGeom prst="rect">
            <a:avLst/>
          </a:prstGeom>
          <a:noFill/>
          <a:ln/>
        </p:spPr>
        <p:txBody>
          <a:bodyPr wrap="square" rtlCol="0" anchor="ctr"/>
          <a:lstStyle/>
          <a:p>
            <a:pPr algn="r" indent="0" marL="0">
              <a:buNone/>
            </a:pPr>
            <a:r>
              <a:rPr lang="en-US" sz="1200" dirty="0">
                <a:solidFill>
                  <a:srgbClr val="FFFFFF"/>
                </a:solidFill>
                <a:latin typeface="Arial" pitchFamily="34" charset="0"/>
                <a:ea typeface="Arial" pitchFamily="34" charset="-122"/>
                <a:cs typeface="Arial" pitchFamily="34" charset="-120"/>
              </a:rPr>
              <a:t>مواصلة الاستثمار في التحول الرقمي لتحسين الإنتاجية والكفاءة التشغيلية على المدى البعيد</a:t>
            </a:r>
            <a:endParaRPr lang="en-US" sz="1200" dirty="0"/>
          </a:p>
        </p:txBody>
      </p:sp>
      <p:sp>
        <p:nvSpPr>
          <p:cNvPr id="14" name="Shape 12"/>
          <p:cNvSpPr/>
          <p:nvPr/>
        </p:nvSpPr>
        <p:spPr>
          <a:xfrm>
            <a:off x="365760" y="2807208"/>
            <a:ext cx="8412480" cy="566928"/>
          </a:xfrm>
          <a:prstGeom prst="rect">
            <a:avLst/>
          </a:prstGeom>
          <a:solidFill>
            <a:srgbClr val="1E3670"/>
          </a:solidFill>
          <a:ln w="12700">
            <a:solidFill>
              <a:srgbClr val="2A4A8A"/>
            </a:solidFill>
            <a:prstDash val="solid"/>
          </a:ln>
        </p:spPr>
      </p:sp>
      <p:sp>
        <p:nvSpPr>
          <p:cNvPr id="15" name="Shape 13"/>
          <p:cNvSpPr/>
          <p:nvPr/>
        </p:nvSpPr>
        <p:spPr>
          <a:xfrm>
            <a:off x="8705088" y="2807208"/>
            <a:ext cx="64008" cy="566928"/>
          </a:xfrm>
          <a:prstGeom prst="rect">
            <a:avLst/>
          </a:prstGeom>
          <a:solidFill>
            <a:srgbClr val="D4A843"/>
          </a:solidFill>
          <a:ln w="12700">
            <a:solidFill>
              <a:srgbClr val="D4A843"/>
            </a:solidFill>
            <a:prstDash val="solid"/>
          </a:ln>
        </p:spPr>
      </p:sp>
      <p:sp>
        <p:nvSpPr>
          <p:cNvPr id="16" name="Shape 14"/>
          <p:cNvSpPr/>
          <p:nvPr/>
        </p:nvSpPr>
        <p:spPr>
          <a:xfrm>
            <a:off x="8211312" y="2907792"/>
            <a:ext cx="475488" cy="365760"/>
          </a:xfrm>
          <a:prstGeom prst="rect">
            <a:avLst/>
          </a:prstGeom>
          <a:solidFill>
            <a:srgbClr val="D4A843"/>
          </a:solidFill>
          <a:ln w="12700">
            <a:solidFill>
              <a:srgbClr val="D4A843"/>
            </a:solidFill>
            <a:prstDash val="solid"/>
          </a:ln>
        </p:spPr>
      </p:sp>
      <p:sp>
        <p:nvSpPr>
          <p:cNvPr id="17" name="Text 15"/>
          <p:cNvSpPr/>
          <p:nvPr/>
        </p:nvSpPr>
        <p:spPr>
          <a:xfrm>
            <a:off x="8211312" y="2907792"/>
            <a:ext cx="475488" cy="365760"/>
          </a:xfrm>
          <a:prstGeom prst="rect">
            <a:avLst/>
          </a:prstGeom>
          <a:noFill/>
          <a:ln/>
        </p:spPr>
        <p:txBody>
          <a:bodyPr wrap="square" lIns="0" tIns="0" rIns="0" bIns="0" rtlCol="0" anchor="ctr"/>
          <a:lstStyle/>
          <a:p>
            <a:pPr algn="ctr" indent="0" marL="0">
              <a:buNone/>
            </a:pPr>
            <a:r>
              <a:rPr lang="en-US" sz="1200" b="1" dirty="0">
                <a:solidFill>
                  <a:srgbClr val="1B2B5E"/>
                </a:solidFill>
                <a:latin typeface="Calibri" pitchFamily="34" charset="0"/>
                <a:ea typeface="Calibri" pitchFamily="34" charset="-122"/>
                <a:cs typeface="Calibri" pitchFamily="34" charset="-120"/>
              </a:rPr>
              <a:t>02</a:t>
            </a:r>
            <a:endParaRPr lang="en-US" sz="1200" dirty="0"/>
          </a:p>
        </p:txBody>
      </p:sp>
      <p:sp>
        <p:nvSpPr>
          <p:cNvPr id="18" name="Text 16"/>
          <p:cNvSpPr/>
          <p:nvPr/>
        </p:nvSpPr>
        <p:spPr>
          <a:xfrm>
            <a:off x="502920" y="2907792"/>
            <a:ext cx="7571232" cy="365760"/>
          </a:xfrm>
          <a:prstGeom prst="rect">
            <a:avLst/>
          </a:prstGeom>
          <a:noFill/>
          <a:ln/>
        </p:spPr>
        <p:txBody>
          <a:bodyPr wrap="square" rtlCol="0" anchor="ctr"/>
          <a:lstStyle/>
          <a:p>
            <a:pPr algn="r" indent="0" marL="0">
              <a:buNone/>
            </a:pPr>
            <a:r>
              <a:rPr lang="en-US" sz="1200" dirty="0">
                <a:solidFill>
                  <a:srgbClr val="FFFFFF"/>
                </a:solidFill>
                <a:latin typeface="Arial" pitchFamily="34" charset="0"/>
                <a:ea typeface="Arial" pitchFamily="34" charset="-122"/>
                <a:cs typeface="Arial" pitchFamily="34" charset="-120"/>
              </a:rPr>
              <a:t>تعزيز برامج تطوير الكوادر البشرية لضمان الاستدامة والتميّز التنافسي في السوق</a:t>
            </a:r>
            <a:endParaRPr lang="en-US" sz="1200" dirty="0"/>
          </a:p>
        </p:txBody>
      </p:sp>
      <p:sp>
        <p:nvSpPr>
          <p:cNvPr id="19" name="Shape 17"/>
          <p:cNvSpPr/>
          <p:nvPr/>
        </p:nvSpPr>
        <p:spPr>
          <a:xfrm>
            <a:off x="365760" y="3493008"/>
            <a:ext cx="8412480" cy="566928"/>
          </a:xfrm>
          <a:prstGeom prst="rect">
            <a:avLst/>
          </a:prstGeom>
          <a:solidFill>
            <a:srgbClr val="1E3670"/>
          </a:solidFill>
          <a:ln w="12700">
            <a:solidFill>
              <a:srgbClr val="2A4A8A"/>
            </a:solidFill>
            <a:prstDash val="solid"/>
          </a:ln>
        </p:spPr>
      </p:sp>
      <p:sp>
        <p:nvSpPr>
          <p:cNvPr id="20" name="Shape 18"/>
          <p:cNvSpPr/>
          <p:nvPr/>
        </p:nvSpPr>
        <p:spPr>
          <a:xfrm>
            <a:off x="8705088" y="3493008"/>
            <a:ext cx="64008" cy="566928"/>
          </a:xfrm>
          <a:prstGeom prst="rect">
            <a:avLst/>
          </a:prstGeom>
          <a:solidFill>
            <a:srgbClr val="D4A843"/>
          </a:solidFill>
          <a:ln w="12700">
            <a:solidFill>
              <a:srgbClr val="D4A843"/>
            </a:solidFill>
            <a:prstDash val="solid"/>
          </a:ln>
        </p:spPr>
      </p:sp>
      <p:sp>
        <p:nvSpPr>
          <p:cNvPr id="21" name="Shape 19"/>
          <p:cNvSpPr/>
          <p:nvPr/>
        </p:nvSpPr>
        <p:spPr>
          <a:xfrm>
            <a:off x="8211312" y="3593592"/>
            <a:ext cx="475488" cy="365760"/>
          </a:xfrm>
          <a:prstGeom prst="rect">
            <a:avLst/>
          </a:prstGeom>
          <a:solidFill>
            <a:srgbClr val="D4A843"/>
          </a:solidFill>
          <a:ln w="12700">
            <a:solidFill>
              <a:srgbClr val="D4A843"/>
            </a:solidFill>
            <a:prstDash val="solid"/>
          </a:ln>
        </p:spPr>
      </p:sp>
      <p:sp>
        <p:nvSpPr>
          <p:cNvPr id="22" name="Text 20"/>
          <p:cNvSpPr/>
          <p:nvPr/>
        </p:nvSpPr>
        <p:spPr>
          <a:xfrm>
            <a:off x="8211312" y="3593592"/>
            <a:ext cx="475488" cy="365760"/>
          </a:xfrm>
          <a:prstGeom prst="rect">
            <a:avLst/>
          </a:prstGeom>
          <a:noFill/>
          <a:ln/>
        </p:spPr>
        <p:txBody>
          <a:bodyPr wrap="square" lIns="0" tIns="0" rIns="0" bIns="0" rtlCol="0" anchor="ctr"/>
          <a:lstStyle/>
          <a:p>
            <a:pPr algn="ctr" indent="0" marL="0">
              <a:buNone/>
            </a:pPr>
            <a:r>
              <a:rPr lang="en-US" sz="1200" b="1" dirty="0">
                <a:solidFill>
                  <a:srgbClr val="1B2B5E"/>
                </a:solidFill>
                <a:latin typeface="Calibri" pitchFamily="34" charset="0"/>
                <a:ea typeface="Calibri" pitchFamily="34" charset="-122"/>
                <a:cs typeface="Calibri" pitchFamily="34" charset="-120"/>
              </a:rPr>
              <a:t>03</a:t>
            </a:r>
            <a:endParaRPr lang="en-US" sz="1200" dirty="0"/>
          </a:p>
        </p:txBody>
      </p:sp>
      <p:sp>
        <p:nvSpPr>
          <p:cNvPr id="23" name="Text 21"/>
          <p:cNvSpPr/>
          <p:nvPr/>
        </p:nvSpPr>
        <p:spPr>
          <a:xfrm>
            <a:off x="502920" y="3593592"/>
            <a:ext cx="7571232" cy="365760"/>
          </a:xfrm>
          <a:prstGeom prst="rect">
            <a:avLst/>
          </a:prstGeom>
          <a:noFill/>
          <a:ln/>
        </p:spPr>
        <p:txBody>
          <a:bodyPr wrap="square" rtlCol="0" anchor="ctr"/>
          <a:lstStyle/>
          <a:p>
            <a:pPr algn="r" indent="0" marL="0">
              <a:buNone/>
            </a:pPr>
            <a:r>
              <a:rPr lang="en-US" sz="1200" dirty="0">
                <a:solidFill>
                  <a:srgbClr val="FFFFFF"/>
                </a:solidFill>
                <a:latin typeface="Arial" pitchFamily="34" charset="0"/>
                <a:ea typeface="Arial" pitchFamily="34" charset="-122"/>
                <a:cs typeface="Arial" pitchFamily="34" charset="-120"/>
              </a:rPr>
              <a:t>التوسع التدريجي في الأسواق الإقليمية مع الحفاظ على جودة الخدمة وثقة العملاء الدائمين</a:t>
            </a:r>
            <a:endParaRPr lang="en-US" sz="1200" dirty="0"/>
          </a:p>
        </p:txBody>
      </p:sp>
      <p:sp>
        <p:nvSpPr>
          <p:cNvPr id="24" name="Shape 22"/>
          <p:cNvSpPr/>
          <p:nvPr/>
        </p:nvSpPr>
        <p:spPr>
          <a:xfrm>
            <a:off x="0" y="4315968"/>
            <a:ext cx="9144000" cy="827532"/>
          </a:xfrm>
          <a:prstGeom prst="rect">
            <a:avLst/>
          </a:prstGeom>
          <a:solidFill>
            <a:srgbClr val="0F1A3A"/>
          </a:solidFill>
          <a:ln w="12700">
            <a:solidFill>
              <a:srgbClr val="0F1A3A"/>
            </a:solidFill>
            <a:prstDash val="solid"/>
          </a:ln>
        </p:spPr>
      </p:sp>
      <p:sp>
        <p:nvSpPr>
          <p:cNvPr id="25" name="Shape 23"/>
          <p:cNvSpPr/>
          <p:nvPr/>
        </p:nvSpPr>
        <p:spPr>
          <a:xfrm>
            <a:off x="0" y="4315968"/>
            <a:ext cx="9144000" cy="36576"/>
          </a:xfrm>
          <a:prstGeom prst="rect">
            <a:avLst/>
          </a:prstGeom>
          <a:solidFill>
            <a:srgbClr val="D4A843"/>
          </a:solidFill>
          <a:ln w="12700">
            <a:solidFill>
              <a:srgbClr val="D4A843"/>
            </a:solidFill>
            <a:prstDash val="solid"/>
          </a:ln>
        </p:spPr>
      </p:sp>
      <p:sp>
        <p:nvSpPr>
          <p:cNvPr id="26" name="Text 24"/>
          <p:cNvSpPr/>
          <p:nvPr/>
        </p:nvSpPr>
        <p:spPr>
          <a:xfrm>
            <a:off x="457200" y="4352544"/>
            <a:ext cx="8229600" cy="411480"/>
          </a:xfrm>
          <a:prstGeom prst="rect">
            <a:avLst/>
          </a:prstGeom>
          <a:noFill/>
          <a:ln/>
        </p:spPr>
        <p:txBody>
          <a:bodyPr wrap="square" rtlCol="0" anchor="ctr"/>
          <a:lstStyle/>
          <a:p>
            <a:pPr algn="ctr" indent="0" marL="0">
              <a:buNone/>
            </a:pPr>
            <a:r>
              <a:rPr lang="en-US" sz="1800" b="1" dirty="0">
                <a:solidFill>
                  <a:srgbClr val="D4A843"/>
                </a:solidFill>
                <a:latin typeface="Arial" pitchFamily="34" charset="0"/>
                <a:ea typeface="Arial" pitchFamily="34" charset="-122"/>
                <a:cs typeface="Arial" pitchFamily="34" charset="-120"/>
              </a:rPr>
              <a:t>شكراً لاهتمامكم</a:t>
            </a:r>
            <a:endParaRPr lang="en-US" sz="1800" dirty="0"/>
          </a:p>
        </p:txBody>
      </p:sp>
      <p:sp>
        <p:nvSpPr>
          <p:cNvPr id="27" name="Text 25"/>
          <p:cNvSpPr/>
          <p:nvPr/>
        </p:nvSpPr>
        <p:spPr>
          <a:xfrm>
            <a:off x="457200" y="4727448"/>
            <a:ext cx="8229600" cy="274320"/>
          </a:xfrm>
          <a:prstGeom prst="rect">
            <a:avLst/>
          </a:prstGeom>
          <a:noFill/>
          <a:ln/>
        </p:spPr>
        <p:txBody>
          <a:bodyPr wrap="square" rtlCol="0" anchor="ctr"/>
          <a:lstStyle/>
          <a:p>
            <a:pPr algn="ctr" indent="0" marL="0">
              <a:buNone/>
            </a:pPr>
            <a:r>
              <a:rPr lang="en-US" sz="1100" dirty="0">
                <a:solidFill>
                  <a:srgbClr val="8899BB"/>
                </a:solidFill>
                <a:latin typeface="Calibri" pitchFamily="34" charset="0"/>
                <a:ea typeface="Calibri" pitchFamily="34" charset="-122"/>
                <a:cs typeface="Calibri" pitchFamily="34" charset="-120"/>
              </a:rPr>
              <a:t>شركة النجاح للاستثمار  ·  التقرير السنوي 2025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التقرير السنوي 2025</dc:title>
  <dc:subject>PptxGenJS Presentation</dc:subject>
  <dc:creator>PptxGenJS</dc:creator>
  <cp:lastModifiedBy>PptxGenJS</cp:lastModifiedBy>
  <cp:revision>1</cp:revision>
  <dcterms:created xsi:type="dcterms:W3CDTF">2026-07-25T11:54:34Z</dcterms:created>
  <dcterms:modified xsi:type="dcterms:W3CDTF">2026-07-25T11:54:34Z</dcterms:modified>
</cp:coreProperties>
</file>