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Cairo"/>
      <p:regular r:id="rId14"/>
      <p:bold r:id="rId15"/>
    </p:embeddedFont>
    <p:embeddedFont>
      <p:font typeface="Tajawal Black"/>
      <p:bold r:id="rId16"/>
    </p:embeddedFont>
    <p:embeddedFont>
      <p:font typeface="Tajawal Medium"/>
      <p:regular r:id="rId17"/>
      <p:bold r:id="rId18"/>
    </p:embeddedFont>
    <p:embeddedFont>
      <p:font typeface="Tajawal"/>
      <p:regular r:id="rId19"/>
      <p:bold r:id="rId20"/>
    </p:embeddedFont>
    <p:embeddedFont>
      <p:font typeface="Cairo Black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ajawal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CairoBlack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airo-bold.fntdata"/><Relationship Id="rId14" Type="http://schemas.openxmlformats.org/officeDocument/2006/relationships/font" Target="fonts/Cairo-regular.fntdata"/><Relationship Id="rId17" Type="http://schemas.openxmlformats.org/officeDocument/2006/relationships/font" Target="fonts/TajawalMedium-regular.fntdata"/><Relationship Id="rId16" Type="http://schemas.openxmlformats.org/officeDocument/2006/relationships/font" Target="fonts/TajawalBlack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Tajawal-regular.fntdata"/><Relationship Id="rId6" Type="http://schemas.openxmlformats.org/officeDocument/2006/relationships/slide" Target="slides/slide1.xml"/><Relationship Id="rId18" Type="http://schemas.openxmlformats.org/officeDocument/2006/relationships/font" Target="fonts/Tajawal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7312" y="1797397"/>
            <a:ext cx="1857375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180510" y="2435572"/>
            <a:ext cx="783097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Cairo Black"/>
                <a:ea typeface="Cairo Black"/>
                <a:cs typeface="Cairo Black"/>
                <a:sym typeface="Cairo Black"/>
              </a:rPr>
              <a:t>نظام التدقيق الذكي </a:t>
            </a:r>
            <a:r>
              <a:rPr b="0" i="0" lang="en-US" sz="4800" u="none" cap="none" strike="noStrike">
                <a:solidFill>
                  <a:srgbClr val="38BDF8"/>
                </a:solidFill>
                <a:latin typeface="Cairo Black"/>
                <a:ea typeface="Cairo Black"/>
                <a:cs typeface="Cairo Black"/>
                <a:sym typeface="Cairo Black"/>
              </a:rPr>
              <a:t>SAEIS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571625" y="3769072"/>
            <a:ext cx="90487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المنصة الذكية المتكاملة لأتمتة التدقيق المالي، مطابقة القيود، والالتزام بمعايير المحاسبة الدولية (IFRS) باستخدام الذكاء الاصطناعي.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719512" y="4786163"/>
            <a:ext cx="47529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Tajawal"/>
                <a:ea typeface="Tajawal"/>
                <a:cs typeface="Tajawal"/>
                <a:sym typeface="Tajawal"/>
              </a:rPr>
              <a:t>المؤسس: أسامة عباس عبده | عرض الاستثمار الأولي (Pre-seed)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5587" y="1911697"/>
            <a:ext cx="1714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B2E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2687" y="2395537"/>
            <a:ext cx="5338762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2395537"/>
            <a:ext cx="5338762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40005" y="495300"/>
            <a:ext cx="1156144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Cairo Black"/>
                <a:ea typeface="Cairo Black"/>
                <a:cs typeface="Cairo Black"/>
                <a:sym typeface="Cairo Black"/>
              </a:rPr>
              <a:t>المشكلة وقارنة كفاءة التدقيق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90550" y="1362075"/>
            <a:ext cx="110109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6929437" y="2700337"/>
            <a:ext cx="4585573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Cairo"/>
                <a:ea typeface="Cairo"/>
                <a:cs typeface="Cairo"/>
                <a:sym typeface="Cairo"/>
              </a:rPr>
              <a:t>التحديات التقليدية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257300" y="2700337"/>
            <a:ext cx="4585573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Cairo"/>
                <a:ea typeface="Cairo"/>
                <a:cs typeface="Cairo"/>
                <a:sym typeface="Cairo"/>
              </a:rPr>
              <a:t>كفاءة الوقت (للمعاملة الواحدة)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95350" y="4586287"/>
            <a:ext cx="4729162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Tajawal"/>
                <a:ea typeface="Tajawal"/>
                <a:cs typeface="Tajawal"/>
                <a:sym typeface="Tajawal"/>
              </a:rPr>
              <a:t>وفورات في وقت التشغيل تتجاوز 99% مع دقة تامة في المطابقة.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49000" y="2809875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6567487" y="3309937"/>
            <a:ext cx="43957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استهلاك آلاف الساعات في المراجعة اليدوية للجداول المحاسبية.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567487" y="4071937"/>
            <a:ext cx="43957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ارتفاع المخاطر البشرية وصعوبة اكتشاف القيود المكررة بدقة.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567487" y="4833937"/>
            <a:ext cx="43957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التعقيد الشديد في مطابقة المعاملات مع معايير IFRS.</a:t>
            </a:r>
            <a:endParaRPr/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76862" y="280987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06150" y="33623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06150" y="41243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06150" y="488632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B2E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9999" y="2788146"/>
            <a:ext cx="3511450" cy="2415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0274" y="2788146"/>
            <a:ext cx="3511599" cy="2415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698" y="2788146"/>
            <a:ext cx="3511450" cy="241518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40005" y="495300"/>
            <a:ext cx="1156144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Cairo Black"/>
                <a:ea typeface="Cairo Black"/>
                <a:cs typeface="Cairo Black"/>
                <a:sym typeface="Cairo Black"/>
              </a:rPr>
              <a:t>الحل المبتكر: نظام SAEIS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590550" y="1362075"/>
            <a:ext cx="110109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82325" y="3092946"/>
            <a:ext cx="31432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8249706" y="3626346"/>
            <a:ext cx="304694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تدقيق فوري آلي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394799" y="4121646"/>
            <a:ext cx="2901850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فحص ملفات Excel و CSV وتحليل آلاف القيود المحاسبية ورصد الشواذ والأخطاء في ثوانٍ معدودة.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89874" y="3092946"/>
            <a:ext cx="4572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4499974" y="3626346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الالتزام بالمعايير (IFRS)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4645074" y="4121646"/>
            <a:ext cx="2901999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فحوصات مدمجة ومبرمجة تتوافق تماماً مع متطلبات IAS 1 (الإفصاح)، IAS 16 (الأصول)، و IAS 2 (المخزون).</a:t>
            </a:r>
            <a:endParaRPr/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87774" y="3092946"/>
            <a:ext cx="4095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750406" y="3626346"/>
            <a:ext cx="304694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المستشار الذكي (AI Advisor)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95498" y="4121646"/>
            <a:ext cx="2901850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لا يكتفي النظام باكتشاف الخطأ، بل يولد تلقائياً التوصيات المحاسبية الفورية للإصلاح والتسوية.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B2E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2687" y="2395537"/>
            <a:ext cx="5338762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2395537"/>
            <a:ext cx="5338762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40005" y="495300"/>
            <a:ext cx="1156144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Cairo Black"/>
                <a:ea typeface="Cairo Black"/>
                <a:cs typeface="Cairo Black"/>
                <a:sym typeface="Cairo Black"/>
              </a:rPr>
              <a:t>هندسة النظام والتقنيات المستخدمة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90550" y="1362075"/>
            <a:ext cx="110109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6996112" y="2700337"/>
            <a:ext cx="4515564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Cairo"/>
                <a:ea typeface="Cairo"/>
                <a:cs typeface="Cairo"/>
                <a:sym typeface="Cairo"/>
              </a:rPr>
              <a:t>المكدس التقني (Tech Stack)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009650" y="2700337"/>
            <a:ext cx="484560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Cairo"/>
                <a:ea typeface="Cairo"/>
                <a:cs typeface="Cairo"/>
                <a:sym typeface="Cairo"/>
              </a:rPr>
              <a:t>الميزات التنافسية (USP)</a:t>
            </a:r>
            <a:endParaRPr/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82325" y="2809875"/>
            <a:ext cx="3143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6567487" y="3309937"/>
            <a:ext cx="43957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Tajawal"/>
                <a:ea typeface="Tajawal"/>
                <a:cs typeface="Tajawal"/>
                <a:sym typeface="Tajawal"/>
              </a:rPr>
              <a:t>Backend &amp; Logic:</a:t>
            </a:r>
            <a:r>
              <a:rPr b="0" i="0" lang="en-US" sz="1500" u="none" cap="none" strike="noStrike">
                <a:solidFill>
                  <a:srgbClr val="F1F5F9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 Python مع مكتبة Pandas المتقدمة لمعالجة وتحليل البيانات.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567487" y="4071937"/>
            <a:ext cx="43957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Tajawal"/>
                <a:ea typeface="Tajawal"/>
                <a:cs typeface="Tajawal"/>
                <a:sym typeface="Tajawal"/>
              </a:rPr>
              <a:t>User Interface:</a:t>
            </a:r>
            <a:r>
              <a:rPr b="0" i="0" lang="en-US" sz="1500" u="none" cap="none" strike="noStrike">
                <a:solidFill>
                  <a:srgbClr val="F1F5F9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 Streamlit لتوفير لوحة تحكم تفاعلية SaaS فخمة.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567487" y="4833937"/>
            <a:ext cx="43957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Tajawal"/>
                <a:ea typeface="Tajawal"/>
                <a:cs typeface="Tajawal"/>
                <a:sym typeface="Tajawal"/>
              </a:rPr>
              <a:t>Reporting:</a:t>
            </a:r>
            <a:r>
              <a:rPr b="0" i="0" lang="en-US" sz="1500" u="none" cap="none" strike="noStrike">
                <a:solidFill>
                  <a:srgbClr val="F1F5F9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 محرك تصدير تقارير Excel احترافية ومعتمدة.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95350" y="3309937"/>
            <a:ext cx="43957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دقة معيارية عالية ومطابقة فورية للتوازنات المحاسبية.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95350" y="3767137"/>
            <a:ext cx="43957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واجهة مستخدم داكنة مصممة خصيصاً للمحترفين والمراجعين.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95350" y="4529137"/>
            <a:ext cx="43957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قابلية التوسع للربط المباشر مع أنظمة ERP الكبرى (Odoo, Onyx Pro).</a:t>
            </a:r>
            <a:endParaRPr/>
          </a:p>
        </p:txBody>
      </p:sp>
      <p:pic>
        <p:nvPicPr>
          <p:cNvPr descr="image.png" id="144" name="Google Shape;14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25200" y="33623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25200" y="41243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25200" y="48863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53062" y="33623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53062" y="38195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53062" y="458152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B2E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2687" y="2395537"/>
            <a:ext cx="5338762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2395537"/>
            <a:ext cx="5338762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40005" y="495300"/>
            <a:ext cx="1156144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Cairo Black"/>
                <a:ea typeface="Cairo Black"/>
                <a:cs typeface="Cairo Black"/>
                <a:sym typeface="Cairo Black"/>
              </a:rPr>
              <a:t>السوق المستهدف والإنجازات الحالية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90550" y="1362075"/>
            <a:ext cx="110109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6929437" y="2700337"/>
            <a:ext cx="4585573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Cairo"/>
                <a:ea typeface="Cairo"/>
                <a:cs typeface="Cairo"/>
                <a:sym typeface="Cairo"/>
              </a:rPr>
              <a:t>السوق المستهدف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257300" y="2700337"/>
            <a:ext cx="4585573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Cairo"/>
                <a:ea typeface="Cairo"/>
                <a:cs typeface="Cairo"/>
                <a:sym typeface="Cairo"/>
              </a:rPr>
              <a:t>الوضع الحالي (MVP v1.2)</a:t>
            </a:r>
            <a:endParaRPr/>
          </a:p>
        </p:txBody>
      </p:sp>
      <p:pic>
        <p:nvPicPr>
          <p:cNvPr descr="image.png" id="160" name="Google Shape;16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49000" y="2809875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6567487" y="3309937"/>
            <a:ext cx="43957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مكاتب المحاسبة والتدقيق الخارجي المستقلة.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567487" y="3767137"/>
            <a:ext cx="43957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الشركات المتوسطة والصغيرة المعتمدة على أنظمة ERP.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567487" y="4529137"/>
            <a:ext cx="43957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الإدارات المالية الساعية لأتمتة عمليات المطابقة والإغلاق.</a:t>
            </a:r>
            <a:endParaRPr/>
          </a:p>
        </p:txBody>
      </p:sp>
      <p:pic>
        <p:nvPicPr>
          <p:cNvPr descr="image.png" id="164" name="Google Shape;16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76862" y="2809875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895350" y="3309937"/>
            <a:ext cx="43957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إطلاق النسخة التجريبية الأولى واختبارها على بيانات حقيقية.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95350" y="4071937"/>
            <a:ext cx="43957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تفعيل مؤشرات الـ KPIs وجداول الفحص التلقائي والتوصيات الذكية.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895350" y="4833937"/>
            <a:ext cx="43957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اكتمال التوثيق الفني والهندسي للمنصة.</a:t>
            </a:r>
            <a:endParaRPr/>
          </a:p>
        </p:txBody>
      </p:sp>
      <p:pic>
        <p:nvPicPr>
          <p:cNvPr descr="image.png" id="168" name="Google Shape;16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25200" y="33623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25200" y="38195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25200" y="45815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53062" y="33623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53062" y="41243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53062" y="488632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B2E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9999" y="2919412"/>
            <a:ext cx="3511450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0274" y="2919412"/>
            <a:ext cx="3511599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698" y="2919412"/>
            <a:ext cx="3511450" cy="2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40005" y="495300"/>
            <a:ext cx="1156144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Cairo Black"/>
                <a:ea typeface="Cairo Black"/>
                <a:cs typeface="Cairo Black"/>
                <a:sym typeface="Cairo Black"/>
              </a:rPr>
              <a:t>طلب الاستثمار وتوجيه الأموال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590550" y="1362075"/>
            <a:ext cx="110109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8299549" y="3271837"/>
            <a:ext cx="309235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38BDF8"/>
                </a:solidFill>
                <a:latin typeface="Cairo Black"/>
                <a:ea typeface="Cairo Black"/>
                <a:cs typeface="Cairo Black"/>
                <a:sym typeface="Cairo Black"/>
              </a:rPr>
              <a:t>$26.5K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8299549" y="4300537"/>
            <a:ext cx="3092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حجم التمويل المطلوب (Pre-seed)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4549824" y="3271837"/>
            <a:ext cx="3092499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38BDF8"/>
                </a:solidFill>
                <a:latin typeface="Cairo Black"/>
                <a:ea typeface="Cairo Black"/>
                <a:cs typeface="Cairo Black"/>
                <a:sym typeface="Cairo Black"/>
              </a:rPr>
              <a:t>40%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4549824" y="4300537"/>
            <a:ext cx="3092499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تطوير الربط المباشر مع أنظمة الـ ERP عبر API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800248" y="3271837"/>
            <a:ext cx="309235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38BDF8"/>
                </a:solidFill>
                <a:latin typeface="Cairo Black"/>
                <a:ea typeface="Cairo Black"/>
                <a:cs typeface="Cairo Black"/>
                <a:sym typeface="Cairo Black"/>
              </a:rPr>
              <a:t>35%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800248" y="4300537"/>
            <a:ext cx="30923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تطوير نماذج الذكاء الاصطناعي التنبؤية للمخاطر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B2E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9999" y="2917626"/>
            <a:ext cx="3511450" cy="2156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0274" y="2917626"/>
            <a:ext cx="3511599" cy="2156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698" y="2917626"/>
            <a:ext cx="3511450" cy="215622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40005" y="495300"/>
            <a:ext cx="1156144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Cairo Black"/>
                <a:ea typeface="Cairo Black"/>
                <a:cs typeface="Cairo Black"/>
                <a:sym typeface="Cairo Black"/>
              </a:rPr>
              <a:t>خارطة الطريق والرؤية المستقبلية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590550" y="1362075"/>
            <a:ext cx="110109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8" name="Google Shape;19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34700" y="3222426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8249706" y="3755826"/>
            <a:ext cx="304694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المرحلة الأولى (الحالية)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8394799" y="4251126"/>
            <a:ext cx="290185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إطلاق MVP فحص ملفات Excel وتوليد التقارير والمستشار المحاسبي الذكي بنجاح.</a:t>
            </a:r>
            <a:endParaRPr/>
          </a:p>
        </p:txBody>
      </p:sp>
      <p:pic>
        <p:nvPicPr>
          <p:cNvPr descr="image.png" id="201" name="Google Shape;20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89874" y="3222426"/>
            <a:ext cx="4572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4499974" y="3755826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المرحلة الثانية (القادمة)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4645074" y="4251126"/>
            <a:ext cx="2901999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الربط البرمجي السحابي المباشر (API Integrations) مع أنظمة Odoo و Onyx Pro.</a:t>
            </a:r>
            <a:endParaRPr/>
          </a:p>
        </p:txBody>
      </p:sp>
      <p:pic>
        <p:nvPicPr>
          <p:cNvPr descr="image.png" id="204" name="Google Shape;20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35399" y="3222426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750406" y="3755826"/>
            <a:ext cx="304694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المرحلة الثالثة (التوسع)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895498" y="4251126"/>
            <a:ext cx="290185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إطلاق النسخة الإقليمية الشاملة ودعم المعايير المحاسبية العالمية المتقدمة.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B2E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0912" y="3583185"/>
            <a:ext cx="5210175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1430416" y="1446014"/>
            <a:ext cx="9331166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FFFFF"/>
                </a:solidFill>
                <a:latin typeface="Cairo Black"/>
                <a:ea typeface="Cairo Black"/>
                <a:cs typeface="Cairo Black"/>
                <a:sym typeface="Cairo Black"/>
              </a:rPr>
              <a:t>Let’s Build the Future of Audit Together 🚀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2286000" y="2531864"/>
            <a:ext cx="7620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شكراً لحسن استماعكم.. يسعدنا تلقي أسئلتكم واستفساراتكم ومناقشة الفرص الاستثمارية.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3986212" y="3964185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Tajawal Black"/>
                <a:ea typeface="Tajawal Black"/>
                <a:cs typeface="Tajawal Black"/>
                <a:sym typeface="Tajawal Black"/>
              </a:rPr>
              <a:t>المؤسس:</a:t>
            </a:r>
            <a:r>
              <a:rPr b="1" i="0" lang="en-US" sz="1500" u="none" cap="none" strike="noStrike">
                <a:solidFill>
                  <a:srgbClr val="38BDF8"/>
                </a:solidFill>
                <a:latin typeface="Tajawal"/>
                <a:ea typeface="Tajawal"/>
                <a:cs typeface="Tajawal"/>
                <a:sym typeface="Tajawal"/>
              </a:rPr>
              <a:t> أسامة عباس عبده (Osama Abbas)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3986212" y="4345185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Tajawal Black"/>
                <a:ea typeface="Tajawal Black"/>
                <a:cs typeface="Tajawal Black"/>
                <a:sym typeface="Tajawal Black"/>
              </a:rPr>
              <a:t>البريد الإلكتروني:</a:t>
            </a:r>
            <a:r>
              <a:rPr b="1" i="0" lang="en-US" sz="1500" u="none" cap="none" strike="noStrike">
                <a:solidFill>
                  <a:srgbClr val="38BDF8"/>
                </a:solidFill>
                <a:latin typeface="Tajawal"/>
                <a:ea typeface="Tajawal"/>
                <a:cs typeface="Tajawal"/>
                <a:sym typeface="Tajawal"/>
              </a:rPr>
              <a:t> osamaabmasoodi@gmail.com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3986212" y="4726185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Tajawal Black"/>
                <a:ea typeface="Tajawal Black"/>
                <a:cs typeface="Tajawal Black"/>
                <a:sym typeface="Tajawal Black"/>
              </a:rPr>
              <a:t>المشروع:</a:t>
            </a:r>
            <a:r>
              <a:rPr b="1" i="0" lang="en-US" sz="1500" u="none" cap="none" strike="noStrike">
                <a:solidFill>
                  <a:srgbClr val="38BDF8"/>
                </a:solidFill>
                <a:latin typeface="Tajawal"/>
                <a:ea typeface="Tajawal"/>
                <a:cs typeface="Tajawal"/>
                <a:sym typeface="Tajawal"/>
              </a:rPr>
              <a:t> SAEIS-Core (Smart Audit &amp; ERP System)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