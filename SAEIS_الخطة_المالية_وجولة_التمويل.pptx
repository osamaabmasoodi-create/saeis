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15120" y="585788"/>
            <a:ext cx="52880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3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SAEIS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848177" y="1121569"/>
            <a:ext cx="1695748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59E0B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Pre‑Seed / مذكرة استثمارية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3829050" y="1464469"/>
            <a:ext cx="4714875" cy="106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2950" b="1" dirty="0">
                <a:solidFill>
                  <a:srgbClr val="FFFFFF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الخطة المالية</a:t>
            </a:r>
            <a:r>
              <a:rPr lang="en-US" sz="2950" b="1" dirty="0">
                <a:solidFill>
                  <a:srgbClr val="FFFFFF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
</a:t>
            </a:r>
            <a:r>
              <a:rPr lang="en-US" sz="2950" b="1" dirty="0">
                <a:solidFill>
                  <a:srgbClr val="FFFFFF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و</a:t>
            </a:r>
            <a:r>
              <a:rPr lang="en-US" sz="2950" b="1" dirty="0">
                <a:solidFill>
                  <a:srgbClr val="10B981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جولة التمويل</a:t>
            </a:r>
            <a:endParaRPr lang="en-US" sz="2950" dirty="0"/>
          </a:p>
        </p:txBody>
      </p:sp>
      <p:sp>
        <p:nvSpPr>
          <p:cNvPr id="6" name="Text 3"/>
          <p:cNvSpPr/>
          <p:nvPr/>
        </p:nvSpPr>
        <p:spPr>
          <a:xfrm>
            <a:off x="4086225" y="2700338"/>
            <a:ext cx="4429125" cy="607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300" dirty="0">
                <a:solidFill>
                  <a:srgbClr val="B9C7D3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رأس مال مرحلي يهدف إلى تحويل برهان المنتج إلى دليل سوقي قابل للقرار.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739557" y="4029075"/>
            <a:ext cx="2775793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DCE5ED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إعداد: </a:t>
            </a:r>
            <a:r>
              <a:rPr lang="en-US" sz="1000" b="1" dirty="0">
                <a:solidFill>
                  <a:srgbClr val="DCE5ED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المحاسب أسامة المسعودي</a:t>
            </a:r>
            <a:r>
              <a:rPr lang="en-US" sz="1050" dirty="0">
                <a:solidFill>
                  <a:srgbClr val="DCE5ED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
</a:t>
            </a:r>
            <a:r>
              <a:rPr lang="en-US" sz="1050" dirty="0">
                <a:solidFill>
                  <a:srgbClr val="DCE5ED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اليمن — انطلاقة محلية وخارطة توسع إقليمية تدريجية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013182" y="4654153"/>
            <a:ext cx="3530743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495A5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تنبيه: كل الأرقام في هذا العرض فرضيات تخطيط داخلية وليست إيرادات أو استثمارات محققة.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00075" y="4342005"/>
            <a:ext cx="1643063" cy="25857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00075" y="4342005"/>
            <a:ext cx="1643063" cy="7144"/>
          </a:xfrm>
          <a:prstGeom prst="rect">
            <a:avLst/>
          </a:prstGeom>
          <a:solidFill>
            <a:srgbClr val="58CEA7"/>
          </a:solidFill>
          <a:ln/>
        </p:spPr>
      </p:sp>
      <p:sp>
        <p:nvSpPr>
          <p:cNvPr id="11" name="Text 8"/>
          <p:cNvSpPr/>
          <p:nvPr/>
        </p:nvSpPr>
        <p:spPr>
          <a:xfrm>
            <a:off x="600075" y="4342005"/>
            <a:ext cx="1643063" cy="2585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76000"/>
              </a:lnSpc>
              <a:buNone/>
            </a:pPr>
            <a:r>
              <a:rPr lang="en-US" sz="850" dirty="0">
                <a:solidFill>
                  <a:srgbClr val="BDF3DC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تمويل منضبط • معالم قابلة للمراجعة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22164" y="564356"/>
            <a:ext cx="135033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2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THESIS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4602361" y="821531"/>
            <a:ext cx="3970139" cy="510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التمويل يشتري دليل قرار قبل التوسع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5179219" y="1535906"/>
            <a:ext cx="3393281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ليس الهدف تمويل توسع مبكر؛ بل </a:t>
            </a:r>
            <a:r>
              <a:rPr lang="en-US" sz="1700" dirty="0">
                <a:solidFill>
                  <a:srgbClr val="10B981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خفض ثلاثة مخاطر</a:t>
            </a:r>
            <a:r>
              <a:rPr lang="en-US" sz="1700" dirty="0">
                <a:solidFill>
                  <a:srgbClr val="FFFFFF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 قبل أن تصبح كلفة الخطأ أكبر</a:t>
            </a:r>
            <a:r>
              <a:rPr lang="en-US" sz="1700" dirty="0">
                <a:solidFill>
                  <a:srgbClr val="FFFFFF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 من كلفة التحقق.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186363" y="2664619"/>
            <a:ext cx="3357563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050" dirty="0">
                <a:solidFill>
                  <a:srgbClr val="B7C5D1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SAEIS يبدأ ببرهان منتج قابل للتدقيق، ثم يختبر قيمة التنبيه لدى عميل تجريبي، ثم يقرر التوسع أو التعديل بناءً على الإشارات الفعلية لا على العرض وحده.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143250" y="1621631"/>
            <a:ext cx="103584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spc="1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3143250" y="2928938"/>
            <a:ext cx="103584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برهان المنتج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143250" y="3207544"/>
            <a:ext cx="1035844" cy="49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AEBDCA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قواعد فحص مفسرة وحالات اصطناعية قابلة للمراجعة.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857375" y="1621631"/>
            <a:ext cx="103584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spc="1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857375" y="2928938"/>
            <a:ext cx="103584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تحقق العميل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857375" y="3207544"/>
            <a:ext cx="1035844" cy="49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AEBDCA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تجربة محدودة تقيس قيمة التنبيه وسرعة المراجعة.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71500" y="1621631"/>
            <a:ext cx="103584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spc="1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71500" y="2928938"/>
            <a:ext cx="103584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قرار توسع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71500" y="3207544"/>
            <a:ext cx="1035844" cy="331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AEBDCA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توسعة أو تعديل أو إيقاف وفق معالم صريحة.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71500" y="4257675"/>
            <a:ext cx="8001000" cy="542925"/>
          </a:xfrm>
          <a:prstGeom prst="rect">
            <a:avLst/>
          </a:prstGeom>
          <a:solidFill>
            <a:srgbClr val="F59E0B">
              <a:alpha val="6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571500" y="4257675"/>
            <a:ext cx="8001000" cy="7144"/>
          </a:xfrm>
          <a:prstGeom prst="rect">
            <a:avLst/>
          </a:prstGeom>
          <a:solidFill>
            <a:srgbClr val="F9C56D"/>
          </a:solidFill>
          <a:ln/>
        </p:spPr>
      </p:sp>
      <p:sp>
        <p:nvSpPr>
          <p:cNvPr id="18" name="Text 15"/>
          <p:cNvSpPr/>
          <p:nvPr/>
        </p:nvSpPr>
        <p:spPr>
          <a:xfrm>
            <a:off x="7735677" y="4393406"/>
            <a:ext cx="679661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قاعدة الجولة: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28663" y="4400550"/>
            <a:ext cx="6272213" cy="1864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D9E2E9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كل دولار ممول يجب أن يرتبط بمخرج واضح يقلل مخاطرة المنتج أو السوق أو البيانات أو الحوكمة.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95994" y="564356"/>
            <a:ext cx="177650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2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BEFORE FORECAST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4999006" y="814388"/>
            <a:ext cx="3573494" cy="510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برهان منتج قبل أي افتراض إيراد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118260" y="1257300"/>
            <a:ext cx="44542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8C5D1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المستثمر لا يموّل شرائح؛ بل يموّل مسارًا موثقًا يحول الفرضيات إلى أدلة قابلة للفحص.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550944" y="2307431"/>
            <a:ext cx="300038" cy="300038"/>
          </a:xfrm>
          <a:prstGeom prst="ellipse">
            <a:avLst/>
          </a:prstGeom>
          <a:solidFill>
            <a:srgbClr val="0A0F1A"/>
          </a:solidFill>
          <a:ln w="18288">
            <a:solidFill>
              <a:srgbClr val="10B98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50944" y="2307431"/>
            <a:ext cx="30003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822281" y="2728913"/>
            <a:ext cx="1750219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لوحة تفاعلية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22281" y="2993231"/>
            <a:ext cx="1750219" cy="338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8400"/>
              </a:lnSpc>
              <a:buNone/>
            </a:pPr>
            <a:r>
              <a:rPr lang="en-US" sz="850" dirty="0">
                <a:solidFill>
                  <a:srgbClr val="AFBDCA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رحلة عربية من الاستيراد إلى تقرير قرار، ببيانات عرض اصطناعية فقط.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407819" y="2307431"/>
            <a:ext cx="300038" cy="300038"/>
          </a:xfrm>
          <a:prstGeom prst="ellipse">
            <a:avLst/>
          </a:prstGeom>
          <a:solidFill>
            <a:srgbClr val="0A0F1A"/>
          </a:solidFill>
          <a:ln w="18288">
            <a:solidFill>
              <a:srgbClr val="10B98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07819" y="2307431"/>
            <a:ext cx="30003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79156" y="2728913"/>
            <a:ext cx="1750219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Micro‑MVP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679156" y="2993231"/>
            <a:ext cx="1750219" cy="338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8400"/>
              </a:lnSpc>
              <a:buNone/>
            </a:pPr>
            <a:r>
              <a:rPr lang="en-US" sz="850" dirty="0">
                <a:solidFill>
                  <a:srgbClr val="AFBDCA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محرك Python يقرأ CSV ويطبق قواعد واضحة لكشف التكرار.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64694" y="2307431"/>
            <a:ext cx="300038" cy="300038"/>
          </a:xfrm>
          <a:prstGeom prst="ellipse">
            <a:avLst/>
          </a:prstGeom>
          <a:solidFill>
            <a:srgbClr val="0A0F1A"/>
          </a:solidFill>
          <a:ln w="18288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64694" y="2307431"/>
            <a:ext cx="30003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536031" y="2728913"/>
            <a:ext cx="1750219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6C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100" b="1" dirty="0">
                <a:solidFill>
                  <a:srgbClr val="FFFFFF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 حالات تجريبية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536031" y="2993231"/>
            <a:ext cx="1750219" cy="338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8400"/>
              </a:lnSpc>
              <a:buNone/>
            </a:pPr>
            <a:r>
              <a:rPr lang="en-US" sz="850" dirty="0">
                <a:solidFill>
                  <a:srgbClr val="AFBDCA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حالتان عاليتا الأولوية وحالة متوسطة، مع أسباب قابلة للمراجعة.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1121569" y="2307431"/>
            <a:ext cx="300038" cy="300038"/>
          </a:xfrm>
          <a:prstGeom prst="ellipse">
            <a:avLst/>
          </a:prstGeom>
          <a:solidFill>
            <a:srgbClr val="0A0F1A"/>
          </a:solidFill>
          <a:ln w="18288">
            <a:solidFill>
              <a:srgbClr val="10B98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21569" y="2307431"/>
            <a:ext cx="30003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92906" y="2728913"/>
            <a:ext cx="1750219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توفيق توضيحي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92906" y="2993231"/>
            <a:ext cx="1750219" cy="3561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8400"/>
              </a:lnSpc>
              <a:buNone/>
            </a:pPr>
            <a:r>
              <a:rPr lang="en-US" sz="850" dirty="0">
                <a:solidFill>
                  <a:srgbClr val="AFBDCA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فرق تسوية </a:t>
            </a:r>
            <a:r>
              <a:rPr lang="en-US" sz="800" b="1" dirty="0">
                <a:solidFill>
                  <a:srgbClr val="F6C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USD</a:t>
            </a:r>
            <a:r>
              <a:rPr lang="en-US" sz="850" dirty="0">
                <a:solidFill>
                  <a:srgbClr val="AFBDCA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 بين مصدرين مع</a:t>
            </a:r>
            <a:r>
              <a:rPr lang="en-US" sz="850" dirty="0">
                <a:solidFill>
                  <a:srgbClr val="AFBDCA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 خطوة مراجعة واضحة.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71500" y="3936206"/>
            <a:ext cx="8001000" cy="871538"/>
          </a:xfrm>
          <a:prstGeom prst="rect">
            <a:avLst/>
          </a:prstGeom>
          <a:solidFill>
            <a:srgbClr val="F59E0B">
              <a:alpha val="6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571500" y="3936206"/>
            <a:ext cx="8001000" cy="7144"/>
          </a:xfrm>
          <a:prstGeom prst="rect">
            <a:avLst/>
          </a:prstGeom>
          <a:solidFill>
            <a:srgbClr val="F9C060"/>
          </a:solidFill>
          <a:ln/>
        </p:spPr>
      </p:sp>
      <p:sp>
        <p:nvSpPr>
          <p:cNvPr id="24" name="Text 21"/>
          <p:cNvSpPr/>
          <p:nvPr/>
        </p:nvSpPr>
        <p:spPr>
          <a:xfrm>
            <a:off x="7335627" y="4064794"/>
            <a:ext cx="106542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حدود البرهان الحالي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42950" y="4329113"/>
            <a:ext cx="7658100" cy="3985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D5DDE5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لا توجد بيانات عميل، ولا تكامل Odoo أو SAP حي، ولا إيرادات مثبتة، ولا ذكاء اصطناعي تشغيلي. هذه الحدود مقصودة: التمويل المطلوب مخصص للتحقق المنضبط قبل أي ادعاء أكبر.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124078" y="4814888"/>
            <a:ext cx="344842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2869A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المصدر: وثائق برهان المنتج الداخلية لـSAEIS؛ كل الحالات والأرقام التشغيلية في هذه الشريحة اصطناعية.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42670" y="564356"/>
            <a:ext cx="292983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2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 / PLANNING ASSUMPTIONS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166717" y="814388"/>
            <a:ext cx="3405783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FFFFFF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نقطة التعادل تحتاج إثباتًا سوقيًا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4208059" y="1257300"/>
            <a:ext cx="4364441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7C5D1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الاقتصاديات أدناه اختبار اتساق داخلي للفرضيات، وليست نتائج تشغيلية أو إيرادًا محققًا.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179219" y="1857375"/>
            <a:ext cx="3393281" cy="2000250"/>
          </a:xfrm>
          <a:prstGeom prst="rect">
            <a:avLst/>
          </a:prstGeom>
          <a:solidFill>
            <a:srgbClr val="10B981">
              <a:alpha val="6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179219" y="1857375"/>
            <a:ext cx="3393281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/>
          <p:nvPr/>
        </p:nvSpPr>
        <p:spPr>
          <a:xfrm>
            <a:off x="7108310" y="2021681"/>
            <a:ext cx="126416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EF0D5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معادلة نقطة التعادل الشهرية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846280" y="2350294"/>
            <a:ext cx="1526195" cy="603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6C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3,281.25 USD</a:t>
            </a:r>
            <a:r>
              <a:rPr lang="en-US" sz="1450" dirty="0">
                <a:solidFill>
                  <a:srgbClr val="FFFFFF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 =</a:t>
            </a:r>
            <a:r>
              <a:rPr lang="en-US" sz="1450" dirty="0">
                <a:solidFill>
                  <a:srgbClr val="FFFFFF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
</a:t>
            </a:r>
            <a:r>
              <a:rPr lang="en-US" sz="1450" dirty="0">
                <a:solidFill>
                  <a:srgbClr val="FFFFFF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2,625 USD ÷ 80%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443538" y="3114675"/>
            <a:ext cx="2928938" cy="636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التكاليف الثابتة الشهرية:</a:t>
            </a:r>
            <a:r>
              <a:rPr lang="en-US" sz="950" dirty="0">
                <a:solidFill>
                  <a:srgbClr val="CED9E1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 2,625 USD</a:t>
            </a:r>
            <a:r>
              <a:rPr lang="en-US" sz="950" dirty="0">
                <a:solidFill>
                  <a:srgbClr val="CED9E1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
</a:t>
            </a:r>
            <a:r>
              <a:rPr lang="en-US" sz="900" b="1" dirty="0">
                <a:solidFill>
                  <a:srgbClr val="10B981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هامش المساهمة:</a:t>
            </a:r>
            <a:r>
              <a:rPr lang="en-US" sz="950" dirty="0">
                <a:solidFill>
                  <a:srgbClr val="CED9E1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 80%</a:t>
            </a:r>
            <a:r>
              <a:rPr lang="en-US" sz="950" dirty="0">
                <a:solidFill>
                  <a:srgbClr val="CED9E1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
</a:t>
            </a:r>
            <a:r>
              <a:rPr lang="en-US" sz="900" b="1" dirty="0">
                <a:solidFill>
                  <a:srgbClr val="10B981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المنطق:</a:t>
            </a:r>
            <a:r>
              <a:rPr lang="en-US" sz="950" dirty="0">
                <a:solidFill>
                  <a:srgbClr val="CED9E1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 التكاليف الثابتة ÷ هامش المساهمة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908330" y="1771650"/>
            <a:ext cx="229219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اختبار السيناريو الأساسي السابق — الشهر 12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628900" y="2100263"/>
            <a:ext cx="914400" cy="166449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2628900" y="1828800"/>
            <a:ext cx="914400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3,125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428875" y="4008034"/>
            <a:ext cx="1314450" cy="1639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BCC9D4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إيراد الشهر 12 المفترض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243013" y="2014538"/>
            <a:ext cx="914400" cy="1750219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3"/>
          <p:cNvSpPr/>
          <p:nvPr/>
        </p:nvSpPr>
        <p:spPr>
          <a:xfrm>
            <a:off x="1243013" y="1743075"/>
            <a:ext cx="914400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3,281.25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42988" y="4008034"/>
            <a:ext cx="1314450" cy="1639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BCC9D4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نقطة التعادل المحسوبة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643063" y="2393156"/>
            <a:ext cx="135731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EAA4A2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فجوة 156.25 USD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71500" y="4264819"/>
            <a:ext cx="8001000" cy="542925"/>
          </a:xfrm>
          <a:prstGeom prst="rect">
            <a:avLst/>
          </a:prstGeom>
          <a:solidFill>
            <a:srgbClr val="F59E0B">
              <a:alpha val="6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571500" y="4264819"/>
            <a:ext cx="8001000" cy="7144"/>
          </a:xfrm>
          <a:prstGeom prst="rect">
            <a:avLst/>
          </a:prstGeom>
          <a:solidFill>
            <a:srgbClr val="F9C060"/>
          </a:solidFill>
          <a:ln/>
        </p:spPr>
      </p:sp>
      <p:sp>
        <p:nvSpPr>
          <p:cNvPr id="21" name="Text 18"/>
          <p:cNvSpPr/>
          <p:nvPr/>
        </p:nvSpPr>
        <p:spPr>
          <a:xfrm>
            <a:off x="7645766" y="4393406"/>
            <a:ext cx="762428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قراءة المستثمر: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35806" y="4400550"/>
            <a:ext cx="6372225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DBE3EA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السيناريو الأساسي لا يصل إلى نقطة التعادل في الشهر 12 بفجوة 156.25 دولار؛ لذلك يجب أن تسبق التوسع عملية تحقق من التسعير والطلب والتكاليف الفعلية.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3819116" y="4829175"/>
            <a:ext cx="475338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1869A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المصدر: نموذج SAEIS الداخلي — فرضيات تخطيطية: 2,625 USD تكاليف ثابتة، 80% هامش مساهمة، 3,125 USD إيراد الشهر 12 المفترض.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48282" y="557213"/>
            <a:ext cx="222421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2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STAGED CAPITAL / USE OF FUNDS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4010378" y="814388"/>
            <a:ext cx="4562122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طلب تمويل مرحلي مستهدف: 26,500 دولار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357688" y="1257300"/>
            <a:ext cx="4214813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B7C5D1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الجولة المقترحة ليست تمويل نمو مفتوح؛ بل رأس مال مخصص لتحويل الفرضيات الأساسية إلى معالم منتج وسوق وحوكمة قابلة للمراجعة.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929313" y="1750219"/>
            <a:ext cx="2643188" cy="857250"/>
          </a:xfrm>
          <a:prstGeom prst="rect">
            <a:avLst/>
          </a:prstGeom>
          <a:solidFill>
            <a:srgbClr val="F59E0B">
              <a:alpha val="6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929313" y="1750219"/>
            <a:ext cx="2643188" cy="2857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7229196" y="1871663"/>
            <a:ext cx="117185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6C76C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إجمالي التمويل المستهدف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020465" y="2093119"/>
            <a:ext cx="1380585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26,500 </a:t>
            </a:r>
            <a:r>
              <a:rPr lang="en-US" sz="1100" b="1" dirty="0">
                <a:solidFill>
                  <a:srgbClr val="DBE6EE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USD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1335881" y="1864519"/>
            <a:ext cx="1157288" cy="1157288"/>
          </a:xfrm>
          <a:prstGeom prst="ellipse">
            <a:avLst/>
          </a:prstGeom>
          <a:solidFill>
            <a:srgbClr val="0A0F1A"/>
          </a:solidFill>
          <a:ln/>
        </p:spPr>
      </p:sp>
      <p:sp>
        <p:nvSpPr>
          <p:cNvPr id="11" name="Text 8"/>
          <p:cNvSpPr/>
          <p:nvPr/>
        </p:nvSpPr>
        <p:spPr>
          <a:xfrm>
            <a:off x="1335881" y="2178844"/>
            <a:ext cx="115728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D9E3EC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استخدام رأس المال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335881" y="2378869"/>
            <a:ext cx="11572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71500" y="3171825"/>
            <a:ext cx="8001000" cy="13287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71500" y="3171825"/>
            <a:ext cx="8001000" cy="7144"/>
          </a:xfrm>
          <a:prstGeom prst="rect">
            <a:avLst/>
          </a:prstGeom>
          <a:solidFill>
            <a:srgbClr val="EAEEF2"/>
          </a:solidFill>
          <a:ln/>
        </p:spPr>
      </p:sp>
      <p:sp>
        <p:nvSpPr>
          <p:cNvPr id="15" name="Text 12"/>
          <p:cNvSpPr/>
          <p:nvPr/>
        </p:nvSpPr>
        <p:spPr>
          <a:xfrm>
            <a:off x="6422231" y="3228975"/>
            <a:ext cx="1928813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بناء المنتج وMVP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643563" y="3236119"/>
            <a:ext cx="5715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7E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36281" y="3236119"/>
            <a:ext cx="9644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6C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11,925 USD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71500" y="3236119"/>
            <a:ext cx="374332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EBDCA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مخرج مقصود: برهان منتج أوضح ومسار مراجعة قابل للتدقيق.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422231" y="3557588"/>
            <a:ext cx="1928813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التكامل والضوابط التقنية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643563" y="3564731"/>
            <a:ext cx="5715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7E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536281" y="3564731"/>
            <a:ext cx="9644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6C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6,625 USD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571500" y="3564731"/>
            <a:ext cx="374332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EBDCA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مخرج مقصود: مسار اتصال قراءة فقط وضوابط بيانات قبل أي ربط حي.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422231" y="3886200"/>
            <a:ext cx="1928813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تجربة العملاء والتحقق السوقي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643563" y="3893344"/>
            <a:ext cx="5715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7E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536281" y="3893344"/>
            <a:ext cx="9644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6C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5,300 USD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71500" y="3893344"/>
            <a:ext cx="374332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EBDCA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مخرج مقصود: تجربة تصميم محدودة تقيس قيمة التنبيه والاستعداد للدفع.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422231" y="4214813"/>
            <a:ext cx="1928813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الحوكمة والاحتياطي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643563" y="4221956"/>
            <a:ext cx="5715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7E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536281" y="4221956"/>
            <a:ext cx="9644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6C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2,650 USD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71500" y="4221956"/>
            <a:ext cx="374332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EBDCA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مخرج مقصود: أثر تدقيقي، مراجعة محاسب، وهامش إدارة للمخاطر المبكرة.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398666" y="4786313"/>
            <a:ext cx="317383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1869A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المصدر: نموذج SAEIS الداخلي؛ توزيع تمويلي افتراضي لا يمثل تمويلًا ملتزمًا أو مصروفات منفذة.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90983" y="557213"/>
            <a:ext cx="258151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2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 / CAPITAL TO EVIDENCE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3236509" y="807244"/>
            <a:ext cx="5335991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FFFFFF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رأس المال يتحول إلى أربعة مخرجات قابلة للقياس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2714625" y="1243013"/>
            <a:ext cx="58578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B7C6D2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استخدام التمويل مقترح بوصفه خطة تخفيض مخاطر: كل بند ينتهي بدليل يمكن مراجعته قبل الانتقال للمرحلة التالية.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1793081"/>
            <a:ext cx="8001000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إجمالي التمويل المرحلي المستهدف: </a:t>
            </a:r>
            <a:r>
              <a:rPr lang="en-US" sz="900" b="1" dirty="0">
                <a:solidFill>
                  <a:srgbClr val="F59E0B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26,500 USD</a:t>
            </a:r>
            <a:r>
              <a:rPr lang="en-US" sz="950" dirty="0">
                <a:solidFill>
                  <a:srgbClr val="F59E0B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 — فرضية تخطيط داخلية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986713" y="2307431"/>
            <a:ext cx="58578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986588" y="2328863"/>
            <a:ext cx="84296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6C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11,925 USD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472113" y="2300288"/>
            <a:ext cx="13573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بناء المنتج وMVP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886075" y="2300288"/>
            <a:ext cx="2357438" cy="1760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B9C7D2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نسخة قابلة للتجربة لمسار الاستيراد والفحص والتقرير.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71500" y="2300288"/>
            <a:ext cx="1857375" cy="1760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b="1" dirty="0">
                <a:solidFill>
                  <a:srgbClr val="10B981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يحفظ المشروع من:</a:t>
            </a:r>
            <a:r>
              <a:rPr lang="en-US" sz="900" dirty="0">
                <a:solidFill>
                  <a:srgbClr val="9DDFC4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 مخاطرة تنفيذ المنتج.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986713" y="2800350"/>
            <a:ext cx="58578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986588" y="2821781"/>
            <a:ext cx="84296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6C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6,625 USD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472113" y="2793206"/>
            <a:ext cx="13573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التكامل والضوابط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886075" y="2793206"/>
            <a:ext cx="2357438" cy="352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B9C7D2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تصميم اتصال قراءة فقط، صلاحيات محدودة وأثر تدقيقي.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71500" y="2793206"/>
            <a:ext cx="1857375" cy="352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b="1" dirty="0">
                <a:solidFill>
                  <a:srgbClr val="10B981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يحفظ المشروع من:</a:t>
            </a:r>
            <a:r>
              <a:rPr lang="en-US" sz="900" dirty="0">
                <a:solidFill>
                  <a:srgbClr val="9DDFC4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 مخاطرة البيانات</a:t>
            </a:r>
            <a:r>
              <a:rPr lang="en-US" sz="900" dirty="0">
                <a:solidFill>
                  <a:srgbClr val="9DDFC4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 والتكامل.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986713" y="3293269"/>
            <a:ext cx="58578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986588" y="3314700"/>
            <a:ext cx="84296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6C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5,300 USD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472113" y="3286125"/>
            <a:ext cx="13573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تجربة العملاء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886075" y="3286125"/>
            <a:ext cx="2357438" cy="352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B9C7D2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تجربة تصميم محدودة تقيس قيمة التنبيه وسرعة المراجعة.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71500" y="3286125"/>
            <a:ext cx="1857375" cy="352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b="1" dirty="0">
                <a:solidFill>
                  <a:srgbClr val="10B981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يحفظ المشروع من:</a:t>
            </a:r>
            <a:r>
              <a:rPr lang="en-US" sz="900" dirty="0">
                <a:solidFill>
                  <a:srgbClr val="9DDFC4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 مخاطرة السوق</a:t>
            </a:r>
            <a:r>
              <a:rPr lang="en-US" sz="900" dirty="0">
                <a:solidFill>
                  <a:srgbClr val="9DDFC4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 والاستعداد للدفع.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986713" y="3786188"/>
            <a:ext cx="58578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986588" y="3807619"/>
            <a:ext cx="84296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6C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2,650 USD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472113" y="3779044"/>
            <a:ext cx="13573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الحوكمة والاحتياطي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886075" y="3779044"/>
            <a:ext cx="2357438" cy="352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B9C7D2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ضوابط تشغيل، توثيق، ومرونة للقرارات التي تظهر في التجربة.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71500" y="3779044"/>
            <a:ext cx="1857375" cy="352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b="1" dirty="0">
                <a:solidFill>
                  <a:srgbClr val="10B981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يحفظ المشروع من:</a:t>
            </a:r>
            <a:r>
              <a:rPr lang="en-US" sz="900" dirty="0">
                <a:solidFill>
                  <a:srgbClr val="9DDFC4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 مخاطرة التوسع</a:t>
            </a:r>
            <a:r>
              <a:rPr lang="en-US" sz="900" dirty="0">
                <a:solidFill>
                  <a:srgbClr val="9DDFC4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 المبكر.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71500" y="4207669"/>
            <a:ext cx="8001000" cy="42148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571500" y="4207669"/>
            <a:ext cx="8001000" cy="7144"/>
          </a:xfrm>
          <a:prstGeom prst="rect">
            <a:avLst/>
          </a:prstGeom>
          <a:solidFill>
            <a:srgbClr val="F9C368"/>
          </a:solidFill>
          <a:ln/>
        </p:spPr>
      </p:sp>
      <p:sp>
        <p:nvSpPr>
          <p:cNvPr id="29" name="Text 26"/>
          <p:cNvSpPr/>
          <p:nvPr/>
        </p:nvSpPr>
        <p:spPr>
          <a:xfrm>
            <a:off x="571500" y="4207669"/>
            <a:ext cx="800100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F59E0B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منهج المستثمر:</a:t>
            </a:r>
            <a:r>
              <a:rPr lang="en-US" sz="1000" dirty="0">
                <a:solidFill>
                  <a:srgbClr val="DBE5ED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 لا تُقاس كفاءة الجولة بحجم الصرف؛ بل بجودة الأدلة التي تحول قرار التمويل اللاحق من افتراض إلى قرار قابل للمراجعة.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3970474" y="4736306"/>
            <a:ext cx="460202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2869A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المصدر: نموذج SAEIS الداخلي — 26,500 دولار وتوزيع 45% / 25% / 20% / 10% افتراضات تخطيطية، وليست مبالغ ممولة أو منصرفة.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3451" y="564356"/>
            <a:ext cx="247904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2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STAGED CAPITAL / GOVERNED PROOF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4471932" y="814388"/>
            <a:ext cx="4100568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FFFFFF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التمويل على مراحل؛ الدليل قبل التوسع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2500313" y="1250156"/>
            <a:ext cx="607218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B7C6D2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تُستخدم الجولة لتجاوز بوابات محددة. لا يُعامل التمويل كإشارة نجاح مسبقة، بل كأداة منظمة لتحويل الافتراضات إلى قرار قابل للمراجعة.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86525" y="2035969"/>
            <a:ext cx="20716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spc="1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01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7336631" y="2443163"/>
            <a:ext cx="371475" cy="371475"/>
          </a:xfrm>
          <a:prstGeom prst="ellipse">
            <a:avLst/>
          </a:prstGeom>
          <a:solidFill>
            <a:srgbClr val="0A0F1A"/>
          </a:solidFill>
          <a:ln w="27432">
            <a:solidFill>
              <a:srgbClr val="10B9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36631" y="2443163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95556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86525" y="2971800"/>
            <a:ext cx="2071688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برهان المنتج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86538" y="3250406"/>
            <a:ext cx="1871663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EBDCA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قواعد فحص مفسرة، حالات اختبار، وتقرير قرار يمكن للمحاسب مراجعته.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86525" y="3621881"/>
            <a:ext cx="207168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D8EEE3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الدليل: هل تلتقط الحالة الصحيحة بسبب مفهوم؟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600450" y="2035969"/>
            <a:ext cx="20716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spc="1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02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4450556" y="2443163"/>
            <a:ext cx="371475" cy="371475"/>
          </a:xfrm>
          <a:prstGeom prst="ellipse">
            <a:avLst/>
          </a:prstGeom>
          <a:solidFill>
            <a:srgbClr val="0A0F1A"/>
          </a:solidFill>
          <a:ln w="27432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50556" y="2443163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95556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600450" y="2971800"/>
            <a:ext cx="2071688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تجربة محدودة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700463" y="3250406"/>
            <a:ext cx="1871663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EBDCA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جهة واحدة، نطاق واحد، وبيانات تجريبية أو منزوعة الهوية خلال 30 يومًا.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600450" y="3621881"/>
            <a:ext cx="20716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D8EEE3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الدليل: هل يختصر التنبيه وقت المراجعة ويخلق قيمة ملموسة؟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714375" y="2035969"/>
            <a:ext cx="20716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spc="1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03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1564481" y="2443163"/>
            <a:ext cx="371475" cy="371475"/>
          </a:xfrm>
          <a:prstGeom prst="ellipse">
            <a:avLst/>
          </a:prstGeom>
          <a:solidFill>
            <a:srgbClr val="0A0F1A"/>
          </a:solidFill>
          <a:ln w="27432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564481" y="2443163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95556"/>
              </a:lnSpc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14375" y="2971800"/>
            <a:ext cx="2071688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قرار التوسع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14388" y="3250406"/>
            <a:ext cx="1871663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EBDCA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توسعة منضبطة أو تعديل الفرضية أو إيقاف المسار وفق نتائج التجربة والضوابط.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14375" y="3621881"/>
            <a:ext cx="20716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8CE7E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الدليل: هل تستحق الفرضية رأس مال وتكاملًا أوسع؟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71500" y="4071938"/>
            <a:ext cx="8001000" cy="721519"/>
          </a:xfrm>
          <a:prstGeom prst="rect">
            <a:avLst/>
          </a:prstGeom>
          <a:solidFill>
            <a:srgbClr val="F59E0B">
              <a:alpha val="6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571500" y="4071938"/>
            <a:ext cx="8001000" cy="7144"/>
          </a:xfrm>
          <a:prstGeom prst="rect">
            <a:avLst/>
          </a:prstGeom>
          <a:solidFill>
            <a:srgbClr val="F9C060"/>
          </a:solidFill>
          <a:ln/>
        </p:spPr>
      </p:sp>
      <p:sp>
        <p:nvSpPr>
          <p:cNvPr id="26" name="Text 23"/>
          <p:cNvSpPr/>
          <p:nvPr/>
        </p:nvSpPr>
        <p:spPr>
          <a:xfrm>
            <a:off x="7094134" y="4200525"/>
            <a:ext cx="129977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قاعدة الاستثمار المنضبط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50094" y="4471988"/>
            <a:ext cx="7643813" cy="1864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D7E0E8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لا يخصص رأس مال أكبر للتكامل أو التوسع السوقي قبل إثبات قيمة التنبيه، وثقة المراجع، واستعداد العميل للتجربة أو الدفع ضمن حدود حوكمة معتمدة.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015861" y="4822031"/>
            <a:ext cx="355663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1869A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المصدر: إطار تمويل مرحلي مبني على فرضيات التخطيط الداخلي لـSAEIS؛ لا يوجد تمويل أو إيراد قائم مُعلن.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81340" y="564356"/>
            <a:ext cx="249116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2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HYPOTHESIS / فرضية قابلة للاختبار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265725" y="814388"/>
            <a:ext cx="3306775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FFFFFF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نموذج إيراد يثبت خلال التجربة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1306078" y="1257300"/>
            <a:ext cx="7266422" cy="2325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B7C5D1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الفكرة التجارية المقترحة هي اشتراك SaaS متدرج؛ لكن السعر والتكرار لا يثبتان في العرض، بل بقرار عميل تجريبي واستخدام قابل للقياس.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857750" y="1914525"/>
            <a:ext cx="3714750" cy="2278856"/>
          </a:xfrm>
          <a:prstGeom prst="rect">
            <a:avLst/>
          </a:prstGeom>
          <a:solidFill>
            <a:srgbClr val="10B981">
              <a:alpha val="6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857750" y="1914525"/>
            <a:ext cx="3714750" cy="2143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/>
          <p:nvPr/>
        </p:nvSpPr>
        <p:spPr>
          <a:xfrm>
            <a:off x="6703405" y="2078831"/>
            <a:ext cx="168335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آلية القيمة والإيراد المقترحة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259626" y="2571750"/>
            <a:ext cx="127136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972300" y="2536031"/>
            <a:ext cx="1071563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نطاق واضح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172075" y="2543175"/>
            <a:ext cx="1714500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850" dirty="0">
                <a:solidFill>
                  <a:srgbClr val="B7C5D1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فواتير الموردين والتوفيق كحالة استخدام أولى محددة.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8259626" y="3014663"/>
            <a:ext cx="127136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972300" y="2978944"/>
            <a:ext cx="1071563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اشتراك دوري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172075" y="2986088"/>
            <a:ext cx="1714500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850" dirty="0">
                <a:solidFill>
                  <a:srgbClr val="B7C5D1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رسوم SaaS مقابل الاستخدام والضوابط والتقارير وفق النطاق المتفق عليه.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259626" y="3457575"/>
            <a:ext cx="127136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972300" y="3421856"/>
            <a:ext cx="1071563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تدرج قيمة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172075" y="3429000"/>
            <a:ext cx="1714500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850" dirty="0">
                <a:solidFill>
                  <a:srgbClr val="B7C5D1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توسعة الباقة بعد ثبوت الحاجة: مصادر بيانات أو قواعد أو وحدات إضافية.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566211" y="1914525"/>
            <a:ext cx="2577164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ما يجب أن تثبته التجربة قبل تثبيت النموذج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455454" y="2343150"/>
            <a:ext cx="687921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استعداد للدفع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92944" y="2357438"/>
            <a:ext cx="2178844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AFBDCA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هل يربط الطرف التجريبي قيمة التنبيه باشتراك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92944" y="2357438"/>
            <a:ext cx="2178844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AFBDCA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متكرر؟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3443120" y="2786063"/>
            <a:ext cx="700255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وقت المراجعة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92944" y="2800350"/>
            <a:ext cx="2178844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AFBDCA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هل تختصر الحالة المفسرة الوقت اللازم للوصول إلى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92944" y="2800350"/>
            <a:ext cx="2178844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AFBDCA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سبب الاستثناء؟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3462542" y="3228975"/>
            <a:ext cx="680833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جودة الحالات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92944" y="3243263"/>
            <a:ext cx="2178844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AFBDCA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هل يعتمد المحاسب نسبة مفيدة من الحالات ويطلب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92944" y="3243263"/>
            <a:ext cx="2178844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AFBDCA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متابعة واضحة؟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3097932" y="3671888"/>
            <a:ext cx="1045443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استمرارية الاستخدام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92944" y="3686175"/>
            <a:ext cx="2178844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AFBDCA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هل يبقى الفحص جزءًا من دورة عمل دورية بعد انتهاء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92944" y="3686175"/>
            <a:ext cx="2178844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AFBDCA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التجربة؟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71500" y="4357688"/>
            <a:ext cx="8001000" cy="442913"/>
          </a:xfrm>
          <a:prstGeom prst="rect">
            <a:avLst/>
          </a:prstGeom>
          <a:solidFill>
            <a:srgbClr val="F59E0B">
              <a:alpha val="6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571500" y="4357688"/>
            <a:ext cx="8001000" cy="7144"/>
          </a:xfrm>
          <a:prstGeom prst="rect">
            <a:avLst/>
          </a:prstGeom>
          <a:solidFill>
            <a:srgbClr val="F9C060"/>
          </a:solidFill>
          <a:ln/>
        </p:spPr>
      </p:sp>
      <p:sp>
        <p:nvSpPr>
          <p:cNvPr id="33" name="Text 30"/>
          <p:cNvSpPr/>
          <p:nvPr/>
        </p:nvSpPr>
        <p:spPr>
          <a:xfrm>
            <a:off x="7744439" y="4486275"/>
            <a:ext cx="663755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قاعدة التوقع: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735806" y="4486275"/>
            <a:ext cx="6393656" cy="1864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D6E0E8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لا تُثبّت توقعات الإيراد أو خطة الأسعار قبل تحقق هذه المؤشرات في تجربة محدودة قابلة للمراجعة.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5213375" y="4807744"/>
            <a:ext cx="33591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1869A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المصدر: فرضيات SAEIS الداخلية؛ لا توجد أسعار منشورة أو عقود أو إيرادات محققة ضمن هذه النسخة.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17691" y="564356"/>
            <a:ext cx="275480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2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MANAGEMENT / CAPITAL DISCIPLINE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3761129" y="814388"/>
            <a:ext cx="4811371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FFFFFF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المخاطر معروفة والضوابط جزء من الاستثمار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2428875" y="1250156"/>
            <a:ext cx="6143625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B7C6D2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لا تُخفى المخاطر في مرحلة Pre‑Seed؛ بل تُصاغ كفرضيات تشغيلية ويرتبط تمويلها بضابط يختبرها أو يحد من أثرها قبل التوسع.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000875" y="1864519"/>
            <a:ext cx="157162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المخاطرة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72063" y="1864519"/>
            <a:ext cx="1643063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الأثر المحتمل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71500" y="1864519"/>
            <a:ext cx="4214813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الضابط أو مسار التخفيف المقترح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000875" y="2243138"/>
            <a:ext cx="157162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التكامل والبيانات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72063" y="2250281"/>
            <a:ext cx="1643063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2AAA7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اتصال مبكر قد يرفع مخاطر الخصوصية أو الصلاحيات.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71500" y="2235994"/>
            <a:ext cx="4214813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ابدأ بــCSV منزوعة الهوية</a:t>
            </a:r>
            <a:r>
              <a:rPr lang="en-US" sz="950" dirty="0">
                <a:solidFill>
                  <a:srgbClr val="BFE9D6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، ثم موصل قراءة فقط بحساب مخصص وصلاحيات محدودة عند</a:t>
            </a:r>
            <a:r>
              <a:rPr lang="en-US" sz="950" dirty="0">
                <a:solidFill>
                  <a:srgbClr val="BFE9D6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 التوسع.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000875" y="2707481"/>
            <a:ext cx="157162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تبني العميل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072063" y="2714625"/>
            <a:ext cx="1643063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2AAA7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قد لا يرى العميل قيمة تنبيه كافية لتغيير دورة عمله.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71500" y="2700338"/>
            <a:ext cx="4214813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تجربة 30 يومًا بنطاق واحد</a:t>
            </a:r>
            <a:r>
              <a:rPr lang="en-US" sz="950" dirty="0">
                <a:solidFill>
                  <a:srgbClr val="BFE9D6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 تقيس وقت المراجعة وجودة الحالات قبل أي توسع أو تسعير</a:t>
            </a:r>
            <a:r>
              <a:rPr lang="en-US" sz="950" dirty="0">
                <a:solidFill>
                  <a:srgbClr val="BFE9D6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 نهائي.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000875" y="3171825"/>
            <a:ext cx="157162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اقتصاديات التسعير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072063" y="3178969"/>
            <a:ext cx="1643063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2AAA7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الفرضية المالية قد لا تحقق نقطة التعادل ضمن الجدول المتوقع.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71500" y="3164681"/>
            <a:ext cx="4214813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اختبر الاستعداد للدفع</a:t>
            </a:r>
            <a:r>
              <a:rPr lang="en-US" sz="950" dirty="0">
                <a:solidFill>
                  <a:srgbClr val="BFE9D6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 والتسعير والتكاليف الفعلية؛ لا تعامل إيراد الشهر 12 المفترض كإيراد</a:t>
            </a:r>
            <a:r>
              <a:rPr lang="en-US" sz="950" dirty="0">
                <a:solidFill>
                  <a:srgbClr val="BFE9D6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 محقق.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000875" y="3636169"/>
            <a:ext cx="157162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الحوكمة المهنية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072063" y="3643313"/>
            <a:ext cx="1643063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2AAA7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تأثيرات المراجعة قد تصبح غير قابلة للتتبع أو الفهم.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71500" y="3629025"/>
            <a:ext cx="4214813" cy="1864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أثر تدقيقي + قرار محاسب</a:t>
            </a:r>
            <a:r>
              <a:rPr lang="en-US" sz="950" dirty="0">
                <a:solidFill>
                  <a:srgbClr val="BFE9D6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 لكل حالة، مع تفسير القاعدة وعدم السماح بقرار مالي آلي.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71500" y="4157663"/>
            <a:ext cx="8001000" cy="600075"/>
          </a:xfrm>
          <a:prstGeom prst="rect">
            <a:avLst/>
          </a:prstGeom>
          <a:solidFill>
            <a:srgbClr val="F59E0B">
              <a:alpha val="6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571500" y="4157663"/>
            <a:ext cx="8001000" cy="7144"/>
          </a:xfrm>
          <a:prstGeom prst="rect">
            <a:avLst/>
          </a:prstGeom>
          <a:solidFill>
            <a:srgbClr val="F9C060"/>
          </a:solidFill>
          <a:ln/>
        </p:spPr>
      </p:sp>
      <p:sp>
        <p:nvSpPr>
          <p:cNvPr id="23" name="Text 20"/>
          <p:cNvSpPr/>
          <p:nvPr/>
        </p:nvSpPr>
        <p:spPr>
          <a:xfrm>
            <a:off x="7637618" y="4286250"/>
            <a:ext cx="763432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قراءة المستثمر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42950" y="4507706"/>
            <a:ext cx="7658100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8E2EA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دور رأس المال هنا هو تمويل ضوابط ومعالم إثبات تقلل عدم اليقين؛ وليس تجاوز المخاطر أو افتراض اختفائها بمجرد بناء الواجهة.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927290" y="4793456"/>
            <a:ext cx="364521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1869A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المصدر: إطار مخاطر SAEIS الداخلي؛ الضوابط المقترحة ليست شهادة امتثال أو ضمانًا لتخفيف المخاطر بالكامل.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72270" y="578644"/>
            <a:ext cx="47165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spc="2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SAEIS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7102339" y="1035844"/>
            <a:ext cx="144158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القرار المطلوب من المستثمر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257675" y="1357313"/>
            <a:ext cx="4286250" cy="8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تمويل </a:t>
            </a:r>
            <a:r>
              <a:rPr lang="en-US" sz="2500" b="1" dirty="0">
                <a:solidFill>
                  <a:srgbClr val="10B981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منضبط</a:t>
            </a:r>
            <a:r>
              <a:rPr lang="en-US" sz="2500" b="1" dirty="0">
                <a:solidFill>
                  <a:srgbClr val="FFFFFF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
</a:t>
            </a:r>
            <a:r>
              <a:rPr lang="en-US" sz="2500" b="1" dirty="0">
                <a:solidFill>
                  <a:srgbClr val="FFFFFF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لمرحلة إثبات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4586288" y="2357438"/>
            <a:ext cx="3929063" cy="837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200" dirty="0">
                <a:solidFill>
                  <a:srgbClr val="BAC8D4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ندعو إلى مناقشة تمويل مرحلي يربط رأس المال بمعالم تحقق واضحة: منتج قابل للتدقيق، تجربة محدودة، ثم قرار توسع أو تعديل مبني على الدليل.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972175" y="3214688"/>
            <a:ext cx="2571750" cy="707231"/>
          </a:xfrm>
          <a:prstGeom prst="rect">
            <a:avLst/>
          </a:prstGeom>
          <a:solidFill>
            <a:srgbClr val="F59E0B">
              <a:alpha val="6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972175" y="3214688"/>
            <a:ext cx="2571750" cy="21431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7162000" y="3314700"/>
            <a:ext cx="122476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6C76C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طلب تمويل مرحلي مستهدف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328650" y="3536156"/>
            <a:ext cx="1058112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26,500 </a:t>
            </a:r>
            <a:r>
              <a:rPr lang="en-US" sz="900" b="1" dirty="0">
                <a:solidFill>
                  <a:srgbClr val="DBE6EE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USD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914748" y="1271588"/>
            <a:ext cx="1685702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ما الذي يشتريه رأس المال؟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457408" y="1785938"/>
            <a:ext cx="14304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352359" y="1743075"/>
            <a:ext cx="89804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برهان منتج أقوى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50094" y="1957388"/>
            <a:ext cx="250031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FBDCA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مسار فحص وتقرير يمكن للمحاسب مراجعته وتفسيره.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457408" y="2386013"/>
            <a:ext cx="14304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167849" y="2343150"/>
            <a:ext cx="108255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تجربة سوق منضبطة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50094" y="2557463"/>
            <a:ext cx="250031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FBDCA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حالة استخدام واحدة وبيانات آمنة لقياس قيمة التنبيه والاستعداد للدفع.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457408" y="2986088"/>
            <a:ext cx="14304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907549" y="2943225"/>
            <a:ext cx="134285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قرار توسع مبني على دليل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50094" y="3157538"/>
            <a:ext cx="250031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FBDCA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لا ربط حي أو توسع أوسع قبل تحقق الضوابط والمعالم المتفق عليها.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00075" y="4214813"/>
            <a:ext cx="7943850" cy="4429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600075" y="4214813"/>
            <a:ext cx="7943850" cy="7144"/>
          </a:xfrm>
          <a:prstGeom prst="rect">
            <a:avLst/>
          </a:prstGeom>
          <a:solidFill>
            <a:srgbClr val="74D6B6"/>
          </a:solidFill>
          <a:ln/>
        </p:spPr>
      </p:sp>
      <p:sp>
        <p:nvSpPr>
          <p:cNvPr id="23" name="Text 20"/>
          <p:cNvSpPr/>
          <p:nvPr/>
        </p:nvSpPr>
        <p:spPr>
          <a:xfrm>
            <a:off x="600075" y="4214813"/>
            <a:ext cx="794385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b="1" dirty="0">
                <a:solidFill>
                  <a:srgbClr val="10B981"/>
                </a:solidFill>
                <a:latin typeface="Noto Naskh Arabic Bold" pitchFamily="34" charset="0"/>
                <a:ea typeface="Noto Naskh Arabic Bold" pitchFamily="34" charset="-122"/>
                <a:cs typeface="Noto Naskh Arabic Bold" pitchFamily="34" charset="-120"/>
              </a:rPr>
              <a:t>المنهج المقترح:</a:t>
            </a:r>
            <a:r>
              <a:rPr lang="en-US" sz="1050" dirty="0">
                <a:solidFill>
                  <a:srgbClr val="E1EDF4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 التمويل ليس نهاية المسار؛ بل وسيلة منظمة لتقليل مخاطرة المنتج والسوق والبيانات قبل الالتزام برأس مال أكبر.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941354" y="4729163"/>
            <a:ext cx="3602571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697A6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المحاسب أسامة المسعودي | osamaabmasoodi@gmail.com | +967775902204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00075" y="4764881"/>
            <a:ext cx="272394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1869A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جميع الأرقام فرضيات تخطيط داخلية وليست إيرادات أو التزامات استثمارية محققة.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2026-08-23T14:41:57Z</dcterms:created>
  <dcterms:modified xsi:type="dcterms:W3CDTF">2026-08-23T14:41:57Z</dcterms:modified>
</cp:coreProperties>
</file>